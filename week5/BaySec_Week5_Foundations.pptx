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Week 5 of BaySec! Make sure to scan the QR code for today's attendance so your points get added to the league leaderboard. Today, we move from the kickoff into core foundations: mastering the Linux command line and learning how to inspect live packets using Wireshark.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Awesome job to everyone who solved Challenge 0x01 last week! You successfully broke into the Operator tier with 150 points. Our official live leaderboard is now up on the website. Today's Challenge 0x02 offers another 100 points, so there is plenty of room to climb the standings.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pros spend 90% of their time on the Linux command line. Piping commands together—like taking output from curl, passing it through grep, and filtering with awk—lets you dissect gigabytes of server logs or packet captures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Packets are like Russian nesting dolls. An Ethernet frame carries an IP packet, which carries a TCP segment, which carries HTTP data. Every reliable connection on the internet starts with that 3-way handshake: SYN, SYN-ACK, ACK. When we look at Wireshark, we can see every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powerful feature for beginners in Wireshark is 'Follow TCP Stream.' Instead of looking at individual TCP fragments, Wireshark stitches the entire HTTP conversation back together into plain text. Let's put this into practice right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for Challenge 0x02! Pull out your laptops or phones and scan the QR code. You can analyze the traffic directly in your browser using our CyberShark tool, or download the .pcap to open it in Wireshark. Find the operator's authentication token and submit the flag. 5 minutes on the clock—go!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Great work everyone! As you saw, finding the flag was as simple as filtering for 'http' or 'port 8080' and opening Packet 15. Because the server did not enforce HTTPS, the auth token was transmitted in plain ASCII text. That is why TLS encryption is mandatory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we dive into Reconnaissance: scanning subnets with Nmap and hunting open-source intelligence with Google Dorks. Make sure you're in WhatsApp for lab files. Thank you everyone, let's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266590" y="502920"/>
            <a:ext cx="3657600" cy="347472"/>
          </a:xfrm>
          <a:prstGeom prst="roundRect">
            <a:avLst/>
          </a:prstGeom>
          <a:solidFill>
            <a:srgbClr val="0F172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F0FF"/>
                </a:solidFill>
                <a:latin typeface="Consolas"/>
              </a:defRPr>
            </a:pPr>
            <a:r>
              <a:t>WEEK 5 | NETWORKING &amp; TRAFFIC ANALYSIS</a:t>
            </a:r>
          </a:p>
        </p:txBody>
      </p:sp>
      <p:sp>
        <p:nvSpPr>
          <p:cNvPr id="4" name="TextBox 3"/>
          <p:cNvSpPr txBox="1"/>
          <p:nvPr/>
        </p:nvSpPr>
        <p:spPr>
          <a:xfrm>
            <a:off x="914400" y="1051560"/>
            <a:ext cx="10362895" cy="1188720"/>
          </a:xfrm>
          <a:prstGeom prst="rect">
            <a:avLst/>
          </a:prstGeom>
          <a:noFill/>
        </p:spPr>
        <p:txBody>
          <a:bodyPr wrap="square">
            <a:spAutoFit/>
          </a:bodyPr>
          <a:lstStyle/>
          <a:p>
            <a:pPr algn="ctr">
              <a:defRPr sz="4000" b="1">
                <a:solidFill>
                  <a:srgbClr val="F8FAFC"/>
                </a:solidFill>
                <a:latin typeface="Segoe UI"/>
              </a:defRPr>
            </a:pPr>
            <a:r>
              <a:t>Foundations: Linux CLI &amp; Wireshark</a:t>
            </a:r>
          </a:p>
        </p:txBody>
      </p:sp>
      <p:sp>
        <p:nvSpPr>
          <p:cNvPr id="5" name="TextBox 4"/>
          <p:cNvSpPr txBox="1"/>
          <p:nvPr/>
        </p:nvSpPr>
        <p:spPr>
          <a:xfrm>
            <a:off x="914400" y="2103120"/>
            <a:ext cx="10362895" cy="548640"/>
          </a:xfrm>
          <a:prstGeom prst="rect">
            <a:avLst/>
          </a:prstGeom>
          <a:noFill/>
        </p:spPr>
        <p:txBody>
          <a:bodyPr wrap="none">
            <a:spAutoFit/>
          </a:bodyPr>
          <a:lstStyle/>
          <a:p>
            <a:pPr algn="ctr">
              <a:defRPr sz="1900">
                <a:solidFill>
                  <a:srgbClr val="38BDF8"/>
                </a:solidFill>
                <a:latin typeface="Segoe UI"/>
              </a:defRPr>
            </a:pPr>
            <a:r>
              <a:t>BaySec @ SFBU • Packet Sniffing &amp; Network Forensics Lab</a:t>
            </a:r>
          </a:p>
        </p:txBody>
      </p:sp>
      <p:pic>
        <p:nvPicPr>
          <p:cNvPr id="6" name="Picture 5" descr="baysec-blue.png"/>
          <p:cNvPicPr>
            <a:picLocks noChangeAspect="1"/>
          </p:cNvPicPr>
          <p:nvPr/>
        </p:nvPicPr>
        <p:blipFill>
          <a:blip r:embed="rId2"/>
          <a:stretch>
            <a:fillRect/>
          </a:stretch>
        </p:blipFill>
        <p:spPr>
          <a:xfrm>
            <a:off x="3947007" y="2743200"/>
            <a:ext cx="2011680" cy="2011680"/>
          </a:xfrm>
          <a:prstGeom prst="rect">
            <a:avLst/>
          </a:prstGeom>
        </p:spPr>
      </p:pic>
      <p:pic>
        <p:nvPicPr>
          <p:cNvPr id="7" name="Picture 6" descr="baysec-red.png"/>
          <p:cNvPicPr>
            <a:picLocks noChangeAspect="1"/>
          </p:cNvPicPr>
          <p:nvPr/>
        </p:nvPicPr>
        <p:blipFill>
          <a:blip r:embed="rId3"/>
          <a:stretch>
            <a:fillRect/>
          </a:stretch>
        </p:blipFill>
        <p:spPr>
          <a:xfrm>
            <a:off x="6233007" y="2743200"/>
            <a:ext cx="2011680" cy="2011680"/>
          </a:xfrm>
          <a:prstGeom prst="rect">
            <a:avLst/>
          </a:prstGeom>
        </p:spPr>
      </p:pic>
      <p:sp>
        <p:nvSpPr>
          <p:cNvPr id="8" name="TextBox 7"/>
          <p:cNvSpPr txBox="1"/>
          <p:nvPr/>
        </p:nvSpPr>
        <p:spPr>
          <a:xfrm>
            <a:off x="2286000" y="4892040"/>
            <a:ext cx="7619695" cy="731520"/>
          </a:xfrm>
          <a:prstGeom prst="rect">
            <a:avLst/>
          </a:prstGeom>
          <a:noFill/>
        </p:spPr>
        <p:txBody>
          <a:bodyPr wrap="square">
            <a:spAutoFit/>
          </a:bodyPr>
          <a:lstStyle/>
          <a:p>
            <a:pPr algn="ctr">
              <a:defRPr sz="1400">
                <a:solidFill>
                  <a:srgbClr val="CBD5E1"/>
                </a:solidFill>
                <a:latin typeface="Segoe UI"/>
              </a:defRPr>
            </a:pPr>
            <a:r>
              <a:t>Welcome back! Please scan the QR code to log today's attendance (+50 League Points) while we get started.</a:t>
            </a:r>
          </a:p>
        </p:txBody>
      </p:sp>
      <p:sp>
        <p:nvSpPr>
          <p:cNvPr id="9" name="Rounded Rectangle 8"/>
          <p:cNvSpPr/>
          <p:nvPr/>
        </p:nvSpPr>
        <p:spPr>
          <a:xfrm>
            <a:off x="731520" y="4480560"/>
            <a:ext cx="2103120" cy="2011680"/>
          </a:xfrm>
          <a:prstGeom prst="roundRect">
            <a:avLst/>
          </a:prstGeom>
          <a:solidFill>
            <a:srgbClr val="111827"/>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attendance.png"/>
          <p:cNvPicPr>
            <a:picLocks noChangeAspect="1"/>
          </p:cNvPicPr>
          <p:nvPr/>
        </p:nvPicPr>
        <p:blipFill>
          <a:blip r:embed="rId4"/>
          <a:stretch>
            <a:fillRect/>
          </a:stretch>
        </p:blipFill>
        <p:spPr>
          <a:xfrm>
            <a:off x="1051560" y="4617720"/>
            <a:ext cx="1463040" cy="1463040"/>
          </a:xfrm>
          <a:prstGeom prst="rect">
            <a:avLst/>
          </a:prstGeom>
        </p:spPr>
      </p:pic>
      <p:sp>
        <p:nvSpPr>
          <p:cNvPr id="11" name="TextBox 10"/>
          <p:cNvSpPr txBox="1"/>
          <p:nvPr/>
        </p:nvSpPr>
        <p:spPr>
          <a:xfrm>
            <a:off x="731520" y="6080760"/>
            <a:ext cx="2103120" cy="365760"/>
          </a:xfrm>
          <a:prstGeom prst="rect">
            <a:avLst/>
          </a:prstGeom>
          <a:noFill/>
        </p:spPr>
        <p:txBody>
          <a:bodyPr wrap="none">
            <a:spAutoFit/>
          </a:bodyPr>
          <a:lstStyle/>
          <a:p>
            <a:pPr algn="ctr">
              <a:defRPr sz="1100" b="1">
                <a:solidFill>
                  <a:srgbClr val="00F0FF"/>
                </a:solidFill>
                <a:latin typeface="Segoe UI"/>
              </a:defRPr>
            </a:pPr>
            <a:r>
              <a:t>Scan for Attendance</a:t>
            </a:r>
          </a:p>
        </p:txBody>
      </p:sp>
      <p:sp>
        <p:nvSpPr>
          <p:cNvPr id="12" name="Rounded Rectangle 11"/>
          <p:cNvSpPr/>
          <p:nvPr/>
        </p:nvSpPr>
        <p:spPr>
          <a:xfrm>
            <a:off x="9357055" y="4480560"/>
            <a:ext cx="2103120" cy="2011680"/>
          </a:xfrm>
          <a:prstGeom prst="roundRect">
            <a:avLst/>
          </a:prstGeom>
          <a:solidFill>
            <a:srgbClr val="111827"/>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qr.png"/>
          <p:cNvPicPr>
            <a:picLocks noChangeAspect="1"/>
          </p:cNvPicPr>
          <p:nvPr/>
        </p:nvPicPr>
        <p:blipFill>
          <a:blip r:embed="rId5"/>
          <a:stretch>
            <a:fillRect/>
          </a:stretch>
        </p:blipFill>
        <p:spPr>
          <a:xfrm>
            <a:off x="9677095" y="4617720"/>
            <a:ext cx="1463040" cy="1463040"/>
          </a:xfrm>
          <a:prstGeom prst="rect">
            <a:avLst/>
          </a:prstGeom>
        </p:spPr>
      </p:pic>
      <p:sp>
        <p:nvSpPr>
          <p:cNvPr id="14" name="TextBox 13"/>
          <p:cNvSpPr txBox="1"/>
          <p:nvPr/>
        </p:nvSpPr>
        <p:spPr>
          <a:xfrm>
            <a:off x="9357055" y="6080760"/>
            <a:ext cx="2103120" cy="365760"/>
          </a:xfrm>
          <a:prstGeom prst="rect">
            <a:avLst/>
          </a:prstGeom>
          <a:noFill/>
        </p:spPr>
        <p:txBody>
          <a:bodyPr wrap="none">
            <a:spAutoFit/>
          </a:bodyPr>
          <a:lstStyle/>
          <a:p>
            <a:pPr algn="ctr">
              <a:defRPr sz="1100" b="1">
                <a:solidFill>
                  <a:srgbClr val="4ADE80"/>
                </a:solidFill>
                <a:latin typeface="Segoe UI"/>
              </a:defRPr>
            </a:pPr>
            <a:r>
              <a:t>Join WhatsApp Community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SEASON PROGRESS</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Week 4 Recap &amp; League Standings</a:t>
            </a:r>
          </a:p>
        </p:txBody>
      </p:sp>
      <p:sp>
        <p:nvSpPr>
          <p:cNvPr id="5" name="Rounded Rectangle 4"/>
          <p:cNvSpPr/>
          <p:nvPr/>
        </p:nvSpPr>
        <p:spPr>
          <a:xfrm>
            <a:off x="731520" y="1572768"/>
            <a:ext cx="5120640" cy="466344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00F0FF"/>
                </a:solidFill>
                <a:latin typeface="Consolas"/>
              </a:defRPr>
            </a:pPr>
            <a:r>
              <a:t>🚩 CHALLENGE 0x01 DEBRIEF</a:t>
            </a:r>
          </a:p>
          <a:p>
            <a:pPr>
              <a:spcBef>
                <a:spcPts val="800"/>
              </a:spcBef>
              <a:spcAft>
                <a:spcPts val="1000"/>
              </a:spcAft>
              <a:defRPr sz="1350">
                <a:solidFill>
                  <a:srgbClr val="F8FAFC"/>
                </a:solidFill>
                <a:latin typeface="Segoe UI"/>
              </a:defRPr>
            </a:pPr>
            <a:r>
              <a:t>In our kickoff lab, we uncovered an authorization token exposed inside HTML comments on the client gateway:</a:t>
            </a:r>
          </a:p>
          <a:p>
            <a:pPr>
              <a:spcAft>
                <a:spcPts val="1400"/>
              </a:spcAft>
              <a:defRPr sz="1100">
                <a:solidFill>
                  <a:srgbClr val="4ADE80"/>
                </a:solidFill>
                <a:latin typeface="Consolas"/>
              </a:defRPr>
            </a:pPr>
            <a:r>
              <a:t>echo "c2ZidXt3M2xjMG0z..." | base64 -d</a:t>
            </a:r>
          </a:p>
          <a:p>
            <a:pPr>
              <a:defRPr sz="1300">
                <a:solidFill>
                  <a:srgbClr val="CBD5E1"/>
                </a:solidFill>
                <a:latin typeface="Segoe UI"/>
              </a:defRPr>
            </a:pPr>
            <a:r>
              <a:t>• Solvers earned +100 Challenge Points</a:t>
            </a:r>
            <a:br/>
            <a:r>
              <a:t>• Total Kickoff potential: 150 pts (Attendance + Challenge)</a:t>
            </a:r>
            <a:br/>
            <a:r>
              <a:t>• Key Lesson: The browser is untrusted territory.</a:t>
            </a:r>
          </a:p>
        </p:txBody>
      </p:sp>
      <p:sp>
        <p:nvSpPr>
          <p:cNvPr id="6" name="Rounded Rectangle 5"/>
          <p:cNvSpPr/>
          <p:nvPr/>
        </p:nvSpPr>
        <p:spPr>
          <a:xfrm>
            <a:off x="6339535" y="1572768"/>
            <a:ext cx="5120640" cy="466344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F59E0B"/>
                </a:solidFill>
                <a:latin typeface="Consolas"/>
              </a:defRPr>
            </a:pPr>
            <a:r>
              <a:t>🏆 LIVE LEAGUE STANDINGS</a:t>
            </a:r>
          </a:p>
          <a:p>
            <a:pPr>
              <a:spcBef>
                <a:spcPts val="800"/>
              </a:spcBef>
              <a:spcAft>
                <a:spcPts val="1400"/>
              </a:spcAft>
              <a:defRPr sz="1350">
                <a:solidFill>
                  <a:srgbClr val="F8FAFC"/>
                </a:solidFill>
                <a:latin typeface="Segoe UI"/>
              </a:defRPr>
            </a:pPr>
            <a:r>
              <a:t>Our official BaySec Leaderboard is now live on the portal!</a:t>
            </a:r>
          </a:p>
          <a:p>
            <a:pPr>
              <a:defRPr sz="1100" b="1">
                <a:solidFill>
                  <a:srgbClr val="94A3B8"/>
                </a:solidFill>
                <a:latin typeface="Consolas"/>
              </a:defRPr>
            </a:pPr>
            <a:r>
              <a:t>CURRENT TIER LADDER:</a:t>
            </a:r>
          </a:p>
          <a:p>
            <a:pPr>
              <a:defRPr sz="1250">
                <a:solidFill>
                  <a:srgbClr val="F8FAFC"/>
                </a:solidFill>
                <a:latin typeface="Segoe UI"/>
              </a:defRPr>
            </a:pPr>
            <a:r>
              <a:t>• 🌱 Initiate: 0 – 149 pts</a:t>
            </a:r>
          </a:p>
          <a:p>
            <a:pPr>
              <a:defRPr sz="1250">
                <a:solidFill>
                  <a:srgbClr val="F8FAFC"/>
                </a:solidFill>
                <a:latin typeface="Segoe UI"/>
              </a:defRPr>
            </a:pPr>
            <a:r>
              <a:t>• ⚡ Operator: 150 – 299 pts (Current Leaders!)</a:t>
            </a:r>
          </a:p>
          <a:p>
            <a:pPr>
              <a:defRPr sz="1250">
                <a:solidFill>
                  <a:srgbClr val="F8FAFC"/>
                </a:solidFill>
                <a:latin typeface="Segoe UI"/>
              </a:defRPr>
            </a:pPr>
            <a:r>
              <a:t>• 🛡️ Sentinel: 300 – 599 pts</a:t>
            </a:r>
          </a:p>
          <a:p>
            <a:pPr>
              <a:defRPr sz="1250">
                <a:solidFill>
                  <a:srgbClr val="F8FAFC"/>
                </a:solidFill>
                <a:latin typeface="Segoe UI"/>
              </a:defRPr>
            </a:pPr>
            <a:r>
              <a:t>• ⚔️ Breaker: 600 – 999 pts</a:t>
            </a:r>
          </a:p>
          <a:p>
            <a:pPr>
              <a:defRPr sz="1250">
                <a:solidFill>
                  <a:srgbClr val="F8FAFC"/>
                </a:solidFill>
                <a:latin typeface="Segoe UI"/>
              </a:defRPr>
            </a:pPr>
            <a:r>
              <a:t>• 👑 Grandmaster: 1,000+ pts</a:t>
            </a:r>
          </a:p>
          <a:p>
            <a:pPr>
              <a:spcBef>
                <a:spcPts val="1400"/>
              </a:spcBef>
              <a:defRPr sz="1100">
                <a:solidFill>
                  <a:srgbClr val="00F0FF"/>
                </a:solidFill>
                <a:latin typeface="Consolas"/>
              </a:defRPr>
            </a:pPr>
            <a:r>
              <a:t>Check your standing anytime: baysec/leaderboard.html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TERMINAL MASTERY</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Linux Command-Line Survival Kit</a:t>
            </a:r>
          </a:p>
        </p:txBody>
      </p:sp>
      <p:sp>
        <p:nvSpPr>
          <p:cNvPr id="5" name="Rounded Rectangle 4"/>
          <p:cNvSpPr/>
          <p:nvPr/>
        </p:nvSpPr>
        <p:spPr>
          <a:xfrm>
            <a:off x="731520" y="1572768"/>
            <a:ext cx="3328416" cy="393192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400"/>
              </a:spcAft>
              <a:defRPr sz="1400" b="1">
                <a:solidFill>
                  <a:srgbClr val="00F0FF"/>
                </a:solidFill>
                <a:latin typeface="Consolas"/>
              </a:defRPr>
            </a:pPr>
            <a:r>
              <a:t>FILESYSTEM &amp; PERMS</a:t>
            </a:r>
          </a:p>
          <a:p>
            <a:pPr>
              <a:defRPr sz="1200" b="1">
                <a:solidFill>
                  <a:srgbClr val="F8FAFC"/>
                </a:solidFill>
                <a:latin typeface="Consolas"/>
              </a:defRPr>
            </a:pPr>
            <a:r>
              <a:t>$ ls -la</a:t>
            </a:r>
          </a:p>
          <a:p>
            <a:pPr>
              <a:spcAft>
                <a:spcPts val="800"/>
              </a:spcAft>
              <a:defRPr sz="1100">
                <a:solidFill>
                  <a:srgbClr val="94A3B8"/>
                </a:solidFill>
                <a:latin typeface="Segoe UI"/>
              </a:defRPr>
            </a:pPr>
            <a:r>
              <a:t>List all files including hidden dotfiles &amp; permissions</a:t>
            </a:r>
          </a:p>
          <a:p>
            <a:pPr>
              <a:defRPr sz="1200" b="1">
                <a:solidFill>
                  <a:srgbClr val="F8FAFC"/>
                </a:solidFill>
                <a:latin typeface="Consolas"/>
              </a:defRPr>
            </a:pPr>
            <a:r>
              <a:t>$ cat / head / tail</a:t>
            </a:r>
          </a:p>
          <a:p>
            <a:pPr>
              <a:spcAft>
                <a:spcPts val="800"/>
              </a:spcAft>
              <a:defRPr sz="1100">
                <a:solidFill>
                  <a:srgbClr val="94A3B8"/>
                </a:solidFill>
                <a:latin typeface="Segoe UI"/>
              </a:defRPr>
            </a:pPr>
            <a:r>
              <a:t>View start, end, or full text streams</a:t>
            </a:r>
          </a:p>
          <a:p>
            <a:pPr>
              <a:defRPr sz="1200" b="1">
                <a:solidFill>
                  <a:srgbClr val="F8FAFC"/>
                </a:solidFill>
                <a:latin typeface="Consolas"/>
              </a:defRPr>
            </a:pPr>
            <a:r>
              <a:t>$ chmod +x</a:t>
            </a:r>
          </a:p>
          <a:p>
            <a:pPr>
              <a:spcAft>
                <a:spcPts val="800"/>
              </a:spcAft>
              <a:defRPr sz="1100">
                <a:solidFill>
                  <a:srgbClr val="94A3B8"/>
                </a:solidFill>
                <a:latin typeface="Segoe UI"/>
              </a:defRPr>
            </a:pPr>
            <a:r>
              <a:t>Grant execute rights on scripts &amp; binaries</a:t>
            </a:r>
          </a:p>
          <a:p>
            <a:pPr>
              <a:defRPr sz="1200" b="1">
                <a:solidFill>
                  <a:srgbClr val="F8FAFC"/>
                </a:solidFill>
                <a:latin typeface="Consolas"/>
              </a:defRPr>
            </a:pPr>
            <a:r>
              <a:t>$ find / -name</a:t>
            </a:r>
          </a:p>
          <a:p>
            <a:pPr>
              <a:spcAft>
                <a:spcPts val="800"/>
              </a:spcAft>
              <a:defRPr sz="1100">
                <a:solidFill>
                  <a:srgbClr val="94A3B8"/>
                </a:solidFill>
                <a:latin typeface="Segoe UI"/>
              </a:defRPr>
            </a:pPr>
            <a:r>
              <a:t>Locate files matching specific patterns</a:t>
            </a:r>
          </a:p>
        </p:txBody>
      </p:sp>
      <p:sp>
        <p:nvSpPr>
          <p:cNvPr id="6" name="Rounded Rectangle 5"/>
          <p:cNvSpPr/>
          <p:nvPr/>
        </p:nvSpPr>
        <p:spPr>
          <a:xfrm>
            <a:off x="4425696" y="1572768"/>
            <a:ext cx="3328416" cy="393192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400"/>
              </a:spcAft>
              <a:defRPr sz="1400" b="1">
                <a:solidFill>
                  <a:srgbClr val="4ADE80"/>
                </a:solidFill>
                <a:latin typeface="Consolas"/>
              </a:defRPr>
            </a:pPr>
            <a:r>
              <a:t>PIPES &amp; WRANGLING</a:t>
            </a:r>
          </a:p>
          <a:p>
            <a:pPr>
              <a:defRPr sz="1200" b="1">
                <a:solidFill>
                  <a:srgbClr val="F8FAFC"/>
                </a:solidFill>
                <a:latin typeface="Consolas"/>
              </a:defRPr>
            </a:pPr>
            <a:r>
              <a:t>$ grep -rn "flag"</a:t>
            </a:r>
          </a:p>
          <a:p>
            <a:pPr>
              <a:spcAft>
                <a:spcPts val="800"/>
              </a:spcAft>
              <a:defRPr sz="1100">
                <a:solidFill>
                  <a:srgbClr val="94A3B8"/>
                </a:solidFill>
                <a:latin typeface="Segoe UI"/>
              </a:defRPr>
            </a:pPr>
            <a:r>
              <a:t>Search recursively for patterns in files</a:t>
            </a:r>
          </a:p>
          <a:p>
            <a:pPr>
              <a:defRPr sz="1200" b="1">
                <a:solidFill>
                  <a:srgbClr val="F8FAFC"/>
                </a:solidFill>
                <a:latin typeface="Consolas"/>
              </a:defRPr>
            </a:pPr>
            <a:r>
              <a:t>$ awk '{print $1}'</a:t>
            </a:r>
          </a:p>
          <a:p>
            <a:pPr>
              <a:spcAft>
                <a:spcPts val="800"/>
              </a:spcAft>
              <a:defRPr sz="1100">
                <a:solidFill>
                  <a:srgbClr val="94A3B8"/>
                </a:solidFill>
                <a:latin typeface="Segoe UI"/>
              </a:defRPr>
            </a:pPr>
            <a:r>
              <a:t>Extract specific column outputs</a:t>
            </a:r>
          </a:p>
          <a:p>
            <a:pPr>
              <a:defRPr sz="1200" b="1">
                <a:solidFill>
                  <a:srgbClr val="F8FAFC"/>
                </a:solidFill>
                <a:latin typeface="Consolas"/>
              </a:defRPr>
            </a:pPr>
            <a:r>
              <a:t>$ cut -d',' -f2</a:t>
            </a:r>
          </a:p>
          <a:p>
            <a:pPr>
              <a:spcAft>
                <a:spcPts val="800"/>
              </a:spcAft>
              <a:defRPr sz="1100">
                <a:solidFill>
                  <a:srgbClr val="94A3B8"/>
                </a:solidFill>
                <a:latin typeface="Segoe UI"/>
              </a:defRPr>
            </a:pPr>
            <a:r>
              <a:t>Split delimited streams into fields</a:t>
            </a:r>
          </a:p>
          <a:p>
            <a:pPr>
              <a:defRPr sz="1200" b="1">
                <a:solidFill>
                  <a:srgbClr val="F8FAFC"/>
                </a:solidFill>
                <a:latin typeface="Consolas"/>
              </a:defRPr>
            </a:pPr>
            <a:r>
              <a:t>$ sort | uniq -c</a:t>
            </a:r>
          </a:p>
          <a:p>
            <a:pPr>
              <a:spcAft>
                <a:spcPts val="800"/>
              </a:spcAft>
              <a:defRPr sz="1100">
                <a:solidFill>
                  <a:srgbClr val="94A3B8"/>
                </a:solidFill>
                <a:latin typeface="Segoe UI"/>
              </a:defRPr>
            </a:pPr>
            <a:r>
              <a:t>Count occurrences of duplicate entries</a:t>
            </a:r>
          </a:p>
        </p:txBody>
      </p:sp>
      <p:sp>
        <p:nvSpPr>
          <p:cNvPr id="7" name="Rounded Rectangle 6"/>
          <p:cNvSpPr/>
          <p:nvPr/>
        </p:nvSpPr>
        <p:spPr>
          <a:xfrm>
            <a:off x="8119872" y="1572768"/>
            <a:ext cx="3328416" cy="3931920"/>
          </a:xfrm>
          <a:prstGeom prst="roundRect">
            <a:avLst/>
          </a:prstGeom>
          <a:solidFill>
            <a:srgbClr val="11182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spcAft>
                <a:spcPts val="1400"/>
              </a:spcAft>
              <a:defRPr sz="1400" b="1">
                <a:solidFill>
                  <a:srgbClr val="F59E0B"/>
                </a:solidFill>
                <a:latin typeface="Consolas"/>
              </a:defRPr>
            </a:pPr>
            <a:r>
              <a:t>NETWORK &amp; SOCKETS</a:t>
            </a:r>
          </a:p>
          <a:p>
            <a:pPr>
              <a:defRPr sz="1200" b="1">
                <a:solidFill>
                  <a:srgbClr val="F8FAFC"/>
                </a:solidFill>
                <a:latin typeface="Consolas"/>
              </a:defRPr>
            </a:pPr>
            <a:r>
              <a:t>$ ip a / ifconfig</a:t>
            </a:r>
          </a:p>
          <a:p>
            <a:pPr>
              <a:spcAft>
                <a:spcPts val="800"/>
              </a:spcAft>
              <a:defRPr sz="1100">
                <a:solidFill>
                  <a:srgbClr val="94A3B8"/>
                </a:solidFill>
                <a:latin typeface="Segoe UI"/>
              </a:defRPr>
            </a:pPr>
            <a:r>
              <a:t>Inspect interface IP &amp; MAC addresses</a:t>
            </a:r>
          </a:p>
          <a:p>
            <a:pPr>
              <a:defRPr sz="1200" b="1">
                <a:solidFill>
                  <a:srgbClr val="F8FAFC"/>
                </a:solidFill>
                <a:latin typeface="Consolas"/>
              </a:defRPr>
            </a:pPr>
            <a:r>
              <a:t>$ curl -v http://...</a:t>
            </a:r>
          </a:p>
          <a:p>
            <a:pPr>
              <a:spcAft>
                <a:spcPts val="800"/>
              </a:spcAft>
              <a:defRPr sz="1100">
                <a:solidFill>
                  <a:srgbClr val="94A3B8"/>
                </a:solidFill>
                <a:latin typeface="Segoe UI"/>
              </a:defRPr>
            </a:pPr>
            <a:r>
              <a:t>Send raw HTTP requests &amp; inspect headers</a:t>
            </a:r>
          </a:p>
          <a:p>
            <a:pPr>
              <a:defRPr sz="1200" b="1">
                <a:solidFill>
                  <a:srgbClr val="F8FAFC"/>
                </a:solidFill>
                <a:latin typeface="Consolas"/>
              </a:defRPr>
            </a:pPr>
            <a:r>
              <a:t>$ ss -tulpn</a:t>
            </a:r>
          </a:p>
          <a:p>
            <a:pPr>
              <a:spcAft>
                <a:spcPts val="800"/>
              </a:spcAft>
              <a:defRPr sz="1100">
                <a:solidFill>
                  <a:srgbClr val="94A3B8"/>
                </a:solidFill>
                <a:latin typeface="Segoe UI"/>
              </a:defRPr>
            </a:pPr>
            <a:r>
              <a:t>List listening TCP/UDP ports &amp; socket PIDs</a:t>
            </a:r>
          </a:p>
          <a:p>
            <a:pPr>
              <a:defRPr sz="1200" b="1">
                <a:solidFill>
                  <a:srgbClr val="F8FAFC"/>
                </a:solidFill>
                <a:latin typeface="Consolas"/>
              </a:defRPr>
            </a:pPr>
            <a:r>
              <a:t>$ tcpdump -i any</a:t>
            </a:r>
          </a:p>
          <a:p>
            <a:pPr>
              <a:spcAft>
                <a:spcPts val="800"/>
              </a:spcAft>
              <a:defRPr sz="1100">
                <a:solidFill>
                  <a:srgbClr val="94A3B8"/>
                </a:solidFill>
                <a:latin typeface="Segoe UI"/>
              </a:defRPr>
            </a:pPr>
            <a:r>
              <a:t>Capture raw packets on terminal console</a:t>
            </a:r>
          </a:p>
        </p:txBody>
      </p:sp>
      <p:sp>
        <p:nvSpPr>
          <p:cNvPr id="8" name="Rounded Rectangle 7"/>
          <p:cNvSpPr/>
          <p:nvPr/>
        </p:nvSpPr>
        <p:spPr>
          <a:xfrm>
            <a:off x="731520" y="5715000"/>
            <a:ext cx="10728655" cy="594360"/>
          </a:xfrm>
          <a:prstGeom prst="round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8FAFC"/>
                </a:solidFill>
                <a:latin typeface="Segoe UI"/>
              </a:defRPr>
            </a:pPr>
            <a:r>
              <a:t>⚡ In security operations, the Linux shell is your primary weapon for triage, forensics, and exploit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NETWORK ARCHITECTURE</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Packets, Ports &amp; Protocols</a:t>
            </a:r>
          </a:p>
        </p:txBody>
      </p:sp>
      <p:sp>
        <p:nvSpPr>
          <p:cNvPr id="5" name="Rounded Rectangle 4"/>
          <p:cNvSpPr/>
          <p:nvPr/>
        </p:nvSpPr>
        <p:spPr>
          <a:xfrm>
            <a:off x="731520" y="1572768"/>
            <a:ext cx="5120640" cy="466344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00F0FF"/>
                </a:solidFill>
                <a:latin typeface="Consolas"/>
              </a:defRPr>
            </a:pPr>
            <a:r>
              <a:t>🌐 THE 4-LAYER PACKET ANATOMY</a:t>
            </a:r>
          </a:p>
          <a:p>
            <a:pPr>
              <a:spcBef>
                <a:spcPts val="800"/>
              </a:spcBef>
              <a:defRPr sz="1200" b="1">
                <a:solidFill>
                  <a:srgbClr val="38BDF8"/>
                </a:solidFill>
                <a:latin typeface="Consolas"/>
              </a:defRPr>
            </a:pPr>
            <a:r>
              <a:t>Layer 7 (Application)</a:t>
            </a:r>
          </a:p>
          <a:p>
            <a:pPr>
              <a:defRPr sz="1150">
                <a:solidFill>
                  <a:srgbClr val="CBD5E1"/>
                </a:solidFill>
                <a:latin typeface="Segoe UI"/>
              </a:defRPr>
            </a:pPr>
            <a:r>
              <a:t>HTTP, DNS, SSH, TLS — The user data payload.</a:t>
            </a:r>
          </a:p>
          <a:p>
            <a:pPr>
              <a:spcBef>
                <a:spcPts val="800"/>
              </a:spcBef>
              <a:defRPr sz="1200" b="1">
                <a:solidFill>
                  <a:srgbClr val="38BDF8"/>
                </a:solidFill>
                <a:latin typeface="Consolas"/>
              </a:defRPr>
            </a:pPr>
            <a:r>
              <a:t>Layer 4 (Transport)</a:t>
            </a:r>
          </a:p>
          <a:p>
            <a:pPr>
              <a:defRPr sz="1150">
                <a:solidFill>
                  <a:srgbClr val="CBD5E1"/>
                </a:solidFill>
                <a:latin typeface="Segoe UI"/>
              </a:defRPr>
            </a:pPr>
            <a:r>
              <a:t>TCP / UDP — Ports (e.g. 80, 443), sequence numbers, reliability.</a:t>
            </a:r>
          </a:p>
          <a:p>
            <a:pPr>
              <a:spcBef>
                <a:spcPts val="800"/>
              </a:spcBef>
              <a:defRPr sz="1200" b="1">
                <a:solidFill>
                  <a:srgbClr val="38BDF8"/>
                </a:solidFill>
                <a:latin typeface="Consolas"/>
              </a:defRPr>
            </a:pPr>
            <a:r>
              <a:t>Layer 3 (Network)</a:t>
            </a:r>
          </a:p>
          <a:p>
            <a:pPr>
              <a:defRPr sz="1150">
                <a:solidFill>
                  <a:srgbClr val="CBD5E1"/>
                </a:solidFill>
                <a:latin typeface="Segoe UI"/>
              </a:defRPr>
            </a:pPr>
            <a:r>
              <a:t>IPv4 / IPv6 — Logical routing from Source IP to Destination IP.</a:t>
            </a:r>
          </a:p>
          <a:p>
            <a:pPr>
              <a:spcBef>
                <a:spcPts val="800"/>
              </a:spcBef>
              <a:defRPr sz="1200" b="1">
                <a:solidFill>
                  <a:srgbClr val="38BDF8"/>
                </a:solidFill>
                <a:latin typeface="Consolas"/>
              </a:defRPr>
            </a:pPr>
            <a:r>
              <a:t>Layer 2 (Data Link)</a:t>
            </a:r>
          </a:p>
          <a:p>
            <a:pPr>
              <a:defRPr sz="1150">
                <a:solidFill>
                  <a:srgbClr val="CBD5E1"/>
                </a:solidFill>
                <a:latin typeface="Segoe UI"/>
              </a:defRPr>
            </a:pPr>
            <a:r>
              <a:t>Ethernet — MAC addresses for hop-by-hop local hardware framing.</a:t>
            </a:r>
          </a:p>
        </p:txBody>
      </p:sp>
      <p:sp>
        <p:nvSpPr>
          <p:cNvPr id="6" name="Rounded Rectangle 5"/>
          <p:cNvSpPr/>
          <p:nvPr/>
        </p:nvSpPr>
        <p:spPr>
          <a:xfrm>
            <a:off x="6339535" y="1572768"/>
            <a:ext cx="5120640" cy="466344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EF4444"/>
                </a:solidFill>
                <a:latin typeface="Consolas"/>
              </a:defRPr>
            </a:pPr>
            <a:r>
              <a:t>🤝 THE TCP 3-WAY HANDSHAKE</a:t>
            </a:r>
          </a:p>
          <a:p>
            <a:pPr>
              <a:spcBef>
                <a:spcPts val="800"/>
              </a:spcBef>
              <a:spcAft>
                <a:spcPts val="1400"/>
              </a:spcAft>
              <a:defRPr sz="1300">
                <a:solidFill>
                  <a:srgbClr val="F8FAFC"/>
                </a:solidFill>
                <a:latin typeface="Segoe UI"/>
              </a:defRPr>
            </a:pPr>
            <a:r>
              <a:t>Before any web request can fly, TCP establishes state:</a:t>
            </a:r>
          </a:p>
          <a:p>
            <a:pPr>
              <a:defRPr sz="1200" b="1">
                <a:solidFill>
                  <a:srgbClr val="4ADE80"/>
                </a:solidFill>
                <a:latin typeface="Consolas"/>
              </a:defRPr>
            </a:pPr>
            <a:r>
              <a:t>1. SYN (Synchronize)</a:t>
            </a:r>
          </a:p>
          <a:p>
            <a:pPr>
              <a:spcAft>
                <a:spcPts val="800"/>
              </a:spcAft>
              <a:defRPr sz="1150">
                <a:solidFill>
                  <a:srgbClr val="CBD5E1"/>
                </a:solidFill>
                <a:latin typeface="Segoe UI"/>
              </a:defRPr>
            </a:pPr>
            <a:r>
              <a:t>Client ➔ Server: 'Hey, let's establish a session on port 80 (Seq=0)'</a:t>
            </a:r>
          </a:p>
          <a:p>
            <a:pPr>
              <a:defRPr sz="1200" b="1">
                <a:solidFill>
                  <a:srgbClr val="4ADE80"/>
                </a:solidFill>
                <a:latin typeface="Consolas"/>
              </a:defRPr>
            </a:pPr>
            <a:r>
              <a:t>2. SYN-ACK</a:t>
            </a:r>
          </a:p>
          <a:p>
            <a:pPr>
              <a:spcAft>
                <a:spcPts val="800"/>
              </a:spcAft>
              <a:defRPr sz="1150">
                <a:solidFill>
                  <a:srgbClr val="CBD5E1"/>
                </a:solidFill>
                <a:latin typeface="Segoe UI"/>
              </a:defRPr>
            </a:pPr>
            <a:r>
              <a:t>Server ➔ Client: 'Acknowledged, let's talk (Seq=0, Ack=1)'</a:t>
            </a:r>
          </a:p>
          <a:p>
            <a:pPr>
              <a:defRPr sz="1200" b="1">
                <a:solidFill>
                  <a:srgbClr val="4ADE80"/>
                </a:solidFill>
                <a:latin typeface="Consolas"/>
              </a:defRPr>
            </a:pPr>
            <a:r>
              <a:t>3. ACK</a:t>
            </a:r>
          </a:p>
          <a:p>
            <a:pPr>
              <a:spcAft>
                <a:spcPts val="800"/>
              </a:spcAft>
              <a:defRPr sz="1150">
                <a:solidFill>
                  <a:srgbClr val="CBD5E1"/>
                </a:solidFill>
                <a:latin typeface="Segoe UI"/>
              </a:defRPr>
            </a:pPr>
            <a:r>
              <a:t>Client ➔ Server: 'Connection confirmed (Ack=1)'</a:t>
            </a:r>
          </a:p>
          <a:p>
            <a:pPr>
              <a:defRPr sz="1200" b="1">
                <a:solidFill>
                  <a:srgbClr val="4ADE80"/>
                </a:solidFill>
                <a:latin typeface="Consolas"/>
              </a:defRPr>
            </a:pPr>
            <a:r>
              <a:t>4. DATA STREAM</a:t>
            </a:r>
          </a:p>
          <a:p>
            <a:pPr>
              <a:spcAft>
                <a:spcPts val="800"/>
              </a:spcAft>
              <a:defRPr sz="1150">
                <a:solidFill>
                  <a:srgbClr val="CBD5E1"/>
                </a:solidFill>
                <a:latin typeface="Segoe UI"/>
              </a:defRPr>
            </a:pPr>
            <a:r>
              <a:t>Payload flows (e.g. GET / POST HTTP requests)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DEFENSIVE TRIAGE</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Wireshark Packet Analysis Manual</a:t>
            </a:r>
          </a:p>
        </p:txBody>
      </p:sp>
      <p:sp>
        <p:nvSpPr>
          <p:cNvPr id="5" name="Rounded Rectangle 4"/>
          <p:cNvSpPr/>
          <p:nvPr/>
        </p:nvSpPr>
        <p:spPr>
          <a:xfrm>
            <a:off x="731520" y="1572768"/>
            <a:ext cx="3328416" cy="393192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050" b="1">
                <a:solidFill>
                  <a:srgbClr val="4ADE80"/>
                </a:solidFill>
                <a:latin typeface="Consolas"/>
              </a:defRPr>
            </a:pPr>
            <a:r>
              <a:t>FILTERING NOISE</a:t>
            </a:r>
          </a:p>
          <a:p>
            <a:pPr>
              <a:spcAft>
                <a:spcPts val="1400"/>
              </a:spcAft>
              <a:defRPr sz="1600" b="1">
                <a:solidFill>
                  <a:srgbClr val="F8FAFC"/>
                </a:solidFill>
                <a:latin typeface="Segoe UI"/>
              </a:defRPr>
            </a:pPr>
            <a:r>
              <a:t>DISPLAY FILTERS</a:t>
            </a:r>
          </a:p>
          <a:p>
            <a:pPr>
              <a:defRPr sz="1200" b="1">
                <a:solidFill>
                  <a:srgbClr val="F8FAFC"/>
                </a:solidFill>
                <a:latin typeface="Consolas"/>
              </a:defRPr>
            </a:pPr>
            <a:r>
              <a:t>▸ http</a:t>
            </a:r>
          </a:p>
          <a:p>
            <a:pPr>
              <a:spcAft>
                <a:spcPts val="600"/>
              </a:spcAft>
              <a:defRPr sz="1100">
                <a:solidFill>
                  <a:srgbClr val="94A3B8"/>
                </a:solidFill>
                <a:latin typeface="Segoe UI"/>
              </a:defRPr>
            </a:pPr>
            <a:r>
              <a:t>Isolates plaintext HTTP traffic</a:t>
            </a:r>
          </a:p>
          <a:p>
            <a:pPr>
              <a:defRPr sz="1200" b="1">
                <a:solidFill>
                  <a:srgbClr val="F8FAFC"/>
                </a:solidFill>
                <a:latin typeface="Consolas"/>
              </a:defRPr>
            </a:pPr>
            <a:r>
              <a:t>▸ tcp.port == 8080</a:t>
            </a:r>
          </a:p>
          <a:p>
            <a:pPr>
              <a:spcAft>
                <a:spcPts val="600"/>
              </a:spcAft>
              <a:defRPr sz="1100">
                <a:solidFill>
                  <a:srgbClr val="94A3B8"/>
                </a:solidFill>
                <a:latin typeface="Segoe UI"/>
              </a:defRPr>
            </a:pPr>
            <a:r>
              <a:t>Shows traffic on specific port</a:t>
            </a:r>
          </a:p>
          <a:p>
            <a:pPr>
              <a:defRPr sz="1200" b="1">
                <a:solidFill>
                  <a:srgbClr val="F8FAFC"/>
                </a:solidFill>
                <a:latin typeface="Consolas"/>
              </a:defRPr>
            </a:pPr>
            <a:r>
              <a:t>▸ ip.src == 192.168.1.42</a:t>
            </a:r>
          </a:p>
          <a:p>
            <a:pPr>
              <a:spcAft>
                <a:spcPts val="600"/>
              </a:spcAft>
              <a:defRPr sz="1100">
                <a:solidFill>
                  <a:srgbClr val="94A3B8"/>
                </a:solidFill>
                <a:latin typeface="Segoe UI"/>
              </a:defRPr>
            </a:pPr>
            <a:r>
              <a:t>Tracks host requests</a:t>
            </a:r>
          </a:p>
          <a:p>
            <a:pPr>
              <a:defRPr sz="1200" b="1">
                <a:solidFill>
                  <a:srgbClr val="F8FAFC"/>
                </a:solidFill>
                <a:latin typeface="Consolas"/>
              </a:defRPr>
            </a:pPr>
            <a:r>
              <a:t>▸ dns || arp</a:t>
            </a:r>
          </a:p>
          <a:p>
            <a:pPr>
              <a:spcAft>
                <a:spcPts val="600"/>
              </a:spcAft>
              <a:defRPr sz="1100">
                <a:solidFill>
                  <a:srgbClr val="94A3B8"/>
                </a:solidFill>
                <a:latin typeface="Segoe UI"/>
              </a:defRPr>
            </a:pPr>
            <a:r>
              <a:t>Inspects resolution handshakes</a:t>
            </a:r>
          </a:p>
        </p:txBody>
      </p:sp>
      <p:sp>
        <p:nvSpPr>
          <p:cNvPr id="6" name="Rounded Rectangle 5"/>
          <p:cNvSpPr/>
          <p:nvPr/>
        </p:nvSpPr>
        <p:spPr>
          <a:xfrm>
            <a:off x="4425696" y="1572768"/>
            <a:ext cx="3328416" cy="393192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050" b="1">
                <a:solidFill>
                  <a:srgbClr val="00F0FF"/>
                </a:solidFill>
                <a:latin typeface="Consolas"/>
              </a:defRPr>
            </a:pPr>
            <a:r>
              <a:t>REASSEMBLY</a:t>
            </a:r>
          </a:p>
          <a:p>
            <a:pPr>
              <a:spcAft>
                <a:spcPts val="1400"/>
              </a:spcAft>
              <a:defRPr sz="1600" b="1">
                <a:solidFill>
                  <a:srgbClr val="F8FAFC"/>
                </a:solidFill>
                <a:latin typeface="Segoe UI"/>
              </a:defRPr>
            </a:pPr>
            <a:r>
              <a:t>FOLLOW TCP STREAM</a:t>
            </a:r>
          </a:p>
          <a:p>
            <a:pPr>
              <a:defRPr sz="1200" b="1">
                <a:solidFill>
                  <a:srgbClr val="F8FAFC"/>
                </a:solidFill>
                <a:latin typeface="Consolas"/>
              </a:defRPr>
            </a:pPr>
            <a:r>
              <a:t>▸ Right-Click Packet</a:t>
            </a:r>
          </a:p>
          <a:p>
            <a:pPr>
              <a:spcAft>
                <a:spcPts val="600"/>
              </a:spcAft>
              <a:defRPr sz="1100">
                <a:solidFill>
                  <a:srgbClr val="94A3B8"/>
                </a:solidFill>
                <a:latin typeface="Segoe UI"/>
              </a:defRPr>
            </a:pPr>
            <a:r>
              <a:t>Select Follow ➔ TCP Stream</a:t>
            </a:r>
          </a:p>
          <a:p>
            <a:pPr>
              <a:defRPr sz="1200" b="1">
                <a:solidFill>
                  <a:srgbClr val="F8FAFC"/>
                </a:solidFill>
                <a:latin typeface="Consolas"/>
              </a:defRPr>
            </a:pPr>
            <a:r>
              <a:t>▸ Conversational View</a:t>
            </a:r>
          </a:p>
          <a:p>
            <a:pPr>
              <a:spcAft>
                <a:spcPts val="600"/>
              </a:spcAft>
              <a:defRPr sz="1100">
                <a:solidFill>
                  <a:srgbClr val="94A3B8"/>
                </a:solidFill>
                <a:latin typeface="Segoe UI"/>
              </a:defRPr>
            </a:pPr>
            <a:r>
              <a:t>Reassembles fragmented chunks into human-readable text</a:t>
            </a:r>
          </a:p>
          <a:p>
            <a:pPr>
              <a:defRPr sz="1200" b="1">
                <a:solidFill>
                  <a:srgbClr val="F8FAFC"/>
                </a:solidFill>
                <a:latin typeface="Consolas"/>
              </a:defRPr>
            </a:pPr>
            <a:r>
              <a:t>▸ Color Code</a:t>
            </a:r>
          </a:p>
          <a:p>
            <a:pPr>
              <a:spcAft>
                <a:spcPts val="600"/>
              </a:spcAft>
              <a:defRPr sz="1100">
                <a:solidFill>
                  <a:srgbClr val="94A3B8"/>
                </a:solidFill>
                <a:latin typeface="Segoe UI"/>
              </a:defRPr>
            </a:pPr>
            <a:r>
              <a:t>Red text = Client, Blue text = Server response</a:t>
            </a:r>
          </a:p>
          <a:p>
            <a:pPr>
              <a:defRPr sz="1200" b="1">
                <a:solidFill>
                  <a:srgbClr val="F8FAFC"/>
                </a:solidFill>
                <a:latin typeface="Consolas"/>
              </a:defRPr>
            </a:pPr>
            <a:r>
              <a:t>▸ Secret Revealer</a:t>
            </a:r>
          </a:p>
          <a:p>
            <a:pPr>
              <a:spcAft>
                <a:spcPts val="600"/>
              </a:spcAft>
              <a:defRPr sz="1100">
                <a:solidFill>
                  <a:srgbClr val="94A3B8"/>
                </a:solidFill>
                <a:latin typeface="Segoe UI"/>
              </a:defRPr>
            </a:pPr>
            <a:r>
              <a:t>Extracts credentials &amp; files directly</a:t>
            </a:r>
          </a:p>
        </p:txBody>
      </p:sp>
      <p:sp>
        <p:nvSpPr>
          <p:cNvPr id="7" name="Rounded Rectangle 6"/>
          <p:cNvSpPr/>
          <p:nvPr/>
        </p:nvSpPr>
        <p:spPr>
          <a:xfrm>
            <a:off x="8119872" y="1572768"/>
            <a:ext cx="3328416" cy="3931920"/>
          </a:xfrm>
          <a:prstGeom prst="roundRect">
            <a:avLst/>
          </a:prstGeom>
          <a:solidFill>
            <a:srgbClr val="111827"/>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sz="1050" b="1">
                <a:solidFill>
                  <a:srgbClr val="EF4444"/>
                </a:solidFill>
                <a:latin typeface="Consolas"/>
              </a:defRPr>
            </a:pPr>
            <a:r>
              <a:t>THE PLAINTEXT RISK</a:t>
            </a:r>
          </a:p>
          <a:p>
            <a:pPr>
              <a:spcAft>
                <a:spcPts val="1400"/>
              </a:spcAft>
              <a:defRPr sz="1600" b="1">
                <a:solidFill>
                  <a:srgbClr val="F8FAFC"/>
                </a:solidFill>
                <a:latin typeface="Segoe UI"/>
              </a:defRPr>
            </a:pPr>
            <a:r>
              <a:t>HTTP VS HTTPS</a:t>
            </a:r>
          </a:p>
          <a:p>
            <a:pPr>
              <a:defRPr sz="1200" b="1">
                <a:solidFill>
                  <a:srgbClr val="F8FAFC"/>
                </a:solidFill>
                <a:latin typeface="Consolas"/>
              </a:defRPr>
            </a:pPr>
            <a:r>
              <a:t>▸ HTTP (Port 80/8080)</a:t>
            </a:r>
          </a:p>
          <a:p>
            <a:pPr>
              <a:spcAft>
                <a:spcPts val="600"/>
              </a:spcAft>
              <a:defRPr sz="1100">
                <a:solidFill>
                  <a:srgbClr val="94A3B8"/>
                </a:solidFill>
                <a:latin typeface="Segoe UI"/>
              </a:defRPr>
            </a:pPr>
            <a:r>
              <a:t>Plaintext: Headers, passwords, cookies visible to any observer</a:t>
            </a:r>
          </a:p>
          <a:p>
            <a:pPr>
              <a:defRPr sz="1200" b="1">
                <a:solidFill>
                  <a:srgbClr val="F8FAFC"/>
                </a:solidFill>
                <a:latin typeface="Consolas"/>
              </a:defRPr>
            </a:pPr>
            <a:r>
              <a:t>▸ HTTPS / TLS (Port 443)</a:t>
            </a:r>
          </a:p>
          <a:p>
            <a:pPr>
              <a:spcAft>
                <a:spcPts val="600"/>
              </a:spcAft>
              <a:defRPr sz="1100">
                <a:solidFill>
                  <a:srgbClr val="94A3B8"/>
                </a:solidFill>
                <a:latin typeface="Segoe UI"/>
              </a:defRPr>
            </a:pPr>
            <a:r>
              <a:t>Encrypted: Payload appears as random pseudorandom bytes</a:t>
            </a:r>
          </a:p>
          <a:p>
            <a:pPr>
              <a:defRPr sz="1200" b="1">
                <a:solidFill>
                  <a:srgbClr val="F8FAFC"/>
                </a:solidFill>
                <a:latin typeface="Consolas"/>
              </a:defRPr>
            </a:pPr>
            <a:r>
              <a:t>▸ Packet Sniffing Risk</a:t>
            </a:r>
          </a:p>
          <a:p>
            <a:pPr>
              <a:spcAft>
                <a:spcPts val="600"/>
              </a:spcAft>
              <a:defRPr sz="1100">
                <a:solidFill>
                  <a:srgbClr val="94A3B8"/>
                </a:solidFill>
                <a:latin typeface="Segoe UI"/>
              </a:defRPr>
            </a:pPr>
            <a:r>
              <a:t>On shared Wi-Fi/LAN, plaintext credentials are instant leaks</a:t>
            </a:r>
          </a:p>
        </p:txBody>
      </p:sp>
      <p:sp>
        <p:nvSpPr>
          <p:cNvPr id="8" name="Rounded Rectangle 7"/>
          <p:cNvSpPr/>
          <p:nvPr/>
        </p:nvSpPr>
        <p:spPr>
          <a:xfrm>
            <a:off x="731520" y="5715000"/>
            <a:ext cx="10728655" cy="59436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8FAFC"/>
                </a:solidFill>
                <a:latin typeface="Segoe UI"/>
              </a:defRPr>
            </a:pPr>
            <a:r>
              <a:t>💡 Wireshark captures millions of packets. The skill of a SOC analyst is using display filters to eliminate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LIVE HANDS-ON LAB</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Challenge 0x02: The Intercepted Uplink</a:t>
            </a:r>
          </a:p>
        </p:txBody>
      </p:sp>
      <p:sp>
        <p:nvSpPr>
          <p:cNvPr id="5" name="Rounded Rectangle 4"/>
          <p:cNvSpPr/>
          <p:nvPr/>
        </p:nvSpPr>
        <p:spPr>
          <a:xfrm>
            <a:off x="731520" y="1572768"/>
            <a:ext cx="7498079" cy="4754880"/>
          </a:xfrm>
          <a:prstGeom prst="roundRect">
            <a:avLst/>
          </a:prstGeom>
          <a:solidFill>
            <a:srgbClr val="0F172A"/>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411480" rIns="411480" tIns="320040"/>
          <a:lstStyle/>
          <a:p>
            <a:pPr algn="ctr">
              <a:defRPr sz="1400" b="1">
                <a:solidFill>
                  <a:srgbClr val="EF4444"/>
                </a:solidFill>
                <a:latin typeface="Consolas"/>
              </a:defRPr>
            </a:pPr>
            <a:r>
              <a:t>[!] INCIDENT SCENARIO</a:t>
            </a:r>
          </a:p>
          <a:p>
            <a:pPr>
              <a:spcBef>
                <a:spcPts val="400"/>
              </a:spcBef>
              <a:spcAft>
                <a:spcPts val="1400"/>
              </a:spcAft>
              <a:defRPr sz="1350">
                <a:solidFill>
                  <a:srgbClr val="F8FAFC"/>
                </a:solidFill>
                <a:latin typeface="Segoe UI"/>
              </a:defRPr>
            </a:pPr>
            <a:r>
              <a:t>A network tap on our internal test subnet intercepted an unencrypted communication stream. An operator transmitted an authentication beacon. Inspect the packet stream, isolate the protocol layers, and retrieve the authorization flag.</a:t>
            </a:r>
          </a:p>
          <a:p>
            <a:pPr>
              <a:defRPr sz="1400" b="1">
                <a:solidFill>
                  <a:srgbClr val="00F0FF"/>
                </a:solidFill>
                <a:latin typeface="Consolas"/>
              </a:defRPr>
            </a:pPr>
            <a:r>
              <a:t>[*] OBJECTIVE &amp; METHODS</a:t>
            </a:r>
          </a:p>
          <a:p>
            <a:pPr>
              <a:spcBef>
                <a:spcPts val="400"/>
              </a:spcBef>
              <a:spcAft>
                <a:spcPts val="1400"/>
              </a:spcAft>
              <a:defRPr sz="1300">
                <a:solidFill>
                  <a:srgbClr val="F8FAFC"/>
                </a:solidFill>
                <a:latin typeface="Segoe UI"/>
              </a:defRPr>
            </a:pPr>
            <a:r>
              <a:t>• Method A: Use our web-based CyberShark Packet Analyzer on the portal.</a:t>
            </a:r>
            <a:br/>
            <a:r>
              <a:t>• Method B: Download traffic_analysis_0x02.pcap and inspect in Wireshark.</a:t>
            </a:r>
          </a:p>
          <a:p>
            <a:pPr>
              <a:spcAft>
                <a:spcPts val="1600"/>
              </a:spcAft>
              <a:defRPr sz="1500" b="1">
                <a:solidFill>
                  <a:srgbClr val="4ADE80"/>
                </a:solidFill>
                <a:latin typeface="Consolas"/>
              </a:defRPr>
            </a:pPr>
            <a:r>
              <a:t>[#] FLAG FORMAT: sfbu{...}</a:t>
            </a:r>
          </a:p>
          <a:p>
            <a:pPr>
              <a:defRPr sz="1200">
                <a:solidFill>
                  <a:srgbClr val="38BDF8"/>
                </a:solidFill>
                <a:latin typeface="Consolas"/>
              </a:defRPr>
            </a:pPr>
            <a:r>
              <a:t>TARGET PORTAL: https://MynameisKoi.github.io/baysec/week5/</a:t>
            </a:r>
          </a:p>
        </p:txBody>
      </p:sp>
      <p:sp>
        <p:nvSpPr>
          <p:cNvPr id="6" name="Rounded Rectangle 5"/>
          <p:cNvSpPr/>
          <p:nvPr/>
        </p:nvSpPr>
        <p:spPr>
          <a:xfrm>
            <a:off x="8503920" y="1572768"/>
            <a:ext cx="2956255" cy="475488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23960" y="1847088"/>
            <a:ext cx="2316175" cy="822960"/>
          </a:xfrm>
          <a:prstGeom prst="round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4A3B8"/>
                </a:solidFill>
                <a:latin typeface="Consolas"/>
              </a:defRPr>
            </a:pPr>
            <a:r>
              <a:t>TIME REMAINING</a:t>
            </a:r>
          </a:p>
          <a:p>
            <a:pPr algn="ctr">
              <a:defRPr sz="2400" b="1">
                <a:solidFill>
                  <a:srgbClr val="EF4444"/>
                </a:solidFill>
                <a:latin typeface="Consolas"/>
              </a:defRPr>
            </a:pPr>
            <a:r>
              <a:t>05:00</a:t>
            </a:r>
          </a:p>
        </p:txBody>
      </p:sp>
      <p:pic>
        <p:nvPicPr>
          <p:cNvPr id="8" name="Picture 7" descr="qr_challenge.png"/>
          <p:cNvPicPr>
            <a:picLocks noChangeAspect="1"/>
          </p:cNvPicPr>
          <p:nvPr/>
        </p:nvPicPr>
        <p:blipFill>
          <a:blip r:embed="rId2"/>
          <a:stretch>
            <a:fillRect/>
          </a:stretch>
        </p:blipFill>
        <p:spPr>
          <a:xfrm>
            <a:off x="8961120" y="2944368"/>
            <a:ext cx="2041855" cy="2041855"/>
          </a:xfrm>
          <a:prstGeom prst="rect">
            <a:avLst/>
          </a:prstGeom>
        </p:spPr>
      </p:pic>
      <p:sp>
        <p:nvSpPr>
          <p:cNvPr id="9" name="TextBox 8"/>
          <p:cNvSpPr txBox="1"/>
          <p:nvPr/>
        </p:nvSpPr>
        <p:spPr>
          <a:xfrm>
            <a:off x="8595360" y="5138928"/>
            <a:ext cx="2743200" cy="822960"/>
          </a:xfrm>
          <a:prstGeom prst="rect">
            <a:avLst/>
          </a:prstGeom>
          <a:noFill/>
        </p:spPr>
        <p:txBody>
          <a:bodyPr wrap="square">
            <a:spAutoFit/>
          </a:bodyPr>
          <a:lstStyle/>
          <a:p>
            <a:pPr algn="ctr">
              <a:defRPr sz="1300" b="1">
                <a:solidFill>
                  <a:srgbClr val="00F0FF"/>
                </a:solidFill>
                <a:latin typeface="Segoe UI"/>
              </a:defRPr>
            </a:pPr>
            <a:r>
              <a:t>Scan to Open Gateway</a:t>
            </a:r>
          </a:p>
          <a:p>
            <a:pPr algn="ctr">
              <a:defRPr sz="1000">
                <a:solidFill>
                  <a:srgbClr val="94A3B8"/>
                </a:solidFill>
                <a:latin typeface="Consolas"/>
              </a:defRPr>
            </a:pPr>
            <a:r>
              <a:t>or visit baysec/week5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LAB DEBRIEF</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0x02 Solution: Dissecting the Uplink</a:t>
            </a:r>
          </a:p>
        </p:txBody>
      </p:sp>
      <p:sp>
        <p:nvSpPr>
          <p:cNvPr id="5" name="Rounded Rectangle 4"/>
          <p:cNvSpPr/>
          <p:nvPr/>
        </p:nvSpPr>
        <p:spPr>
          <a:xfrm>
            <a:off x="731520" y="1572768"/>
            <a:ext cx="5120640" cy="393192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00F0FF"/>
                </a:solidFill>
                <a:latin typeface="Consolas"/>
              </a:defRPr>
            </a:pPr>
            <a:r>
              <a:t>STEP 1: FILTER &amp; IDENTIFY</a:t>
            </a:r>
          </a:p>
          <a:p>
            <a:pPr>
              <a:spcBef>
                <a:spcPts val="1000"/>
              </a:spcBef>
              <a:defRPr sz="1350">
                <a:solidFill>
                  <a:srgbClr val="F8FAFC"/>
                </a:solidFill>
                <a:latin typeface="Segoe UI"/>
              </a:defRPr>
            </a:pPr>
            <a:r>
              <a:t>• Apply display filter: http or port 8080</a:t>
            </a:r>
          </a:p>
          <a:p>
            <a:pPr>
              <a:spcBef>
                <a:spcPts val="800"/>
              </a:spcBef>
              <a:spcAft>
                <a:spcPts val="1000"/>
              </a:spcAft>
              <a:defRPr sz="1350">
                <a:solidFill>
                  <a:srgbClr val="F8FAFC"/>
                </a:solidFill>
                <a:latin typeface="Segoe UI"/>
              </a:defRPr>
            </a:pPr>
            <a:r>
              <a:t>• Notice Packet #15: A POST request to /api/v2/telemetry/uplink:</a:t>
            </a:r>
          </a:p>
          <a:p>
            <a:pPr>
              <a:spcAft>
                <a:spcPts val="1400"/>
              </a:spcAft>
              <a:defRPr sz="1100">
                <a:solidFill>
                  <a:srgbClr val="4ADE80"/>
                </a:solidFill>
                <a:latin typeface="Consolas"/>
              </a:defRPr>
            </a:pPr>
            <a:r>
              <a:t>POST /api/v2/telemetry/uplink HTTP/1.1</a:t>
            </a:r>
            <a:br/>
            <a:r>
              <a:t>Host: gateway.baysec.sfbu:8080</a:t>
            </a:r>
            <a:br/>
            <a:r>
              <a:t>Authorization: Basic c2ZidV9hZG1pbj...==</a:t>
            </a:r>
          </a:p>
          <a:p>
            <a:pPr>
              <a:defRPr sz="1200" i="1">
                <a:solidFill>
                  <a:srgbClr val="CBD5E1"/>
                </a:solidFill>
                <a:latin typeface="Segoe UI"/>
              </a:defRPr>
            </a:pPr>
            <a:r>
              <a:t>Unlike encrypted TLS traffic on 443, port 8080 was running unencrypted plaintext HTTP!</a:t>
            </a:r>
          </a:p>
        </p:txBody>
      </p:sp>
      <p:sp>
        <p:nvSpPr>
          <p:cNvPr id="6" name="Rounded Rectangle 5"/>
          <p:cNvSpPr/>
          <p:nvPr/>
        </p:nvSpPr>
        <p:spPr>
          <a:xfrm>
            <a:off x="6339535" y="1572768"/>
            <a:ext cx="5120640" cy="393192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4ADE80"/>
                </a:solidFill>
                <a:latin typeface="Consolas"/>
              </a:defRPr>
            </a:pPr>
            <a:r>
              <a:t>STEP 2: INSPECT PAYLOAD</a:t>
            </a:r>
          </a:p>
          <a:p>
            <a:pPr>
              <a:spcBef>
                <a:spcPts val="800"/>
              </a:spcBef>
              <a:spcAft>
                <a:spcPts val="1000"/>
              </a:spcAft>
              <a:defRPr sz="1300">
                <a:solidFill>
                  <a:srgbClr val="F8FAFC"/>
                </a:solidFill>
                <a:latin typeface="Segoe UI"/>
              </a:defRPr>
            </a:pPr>
            <a:r>
              <a:t>Expand 'HTML Form URL Encoded' or examine raw Hex Dump:</a:t>
            </a:r>
          </a:p>
          <a:p>
            <a:pPr>
              <a:spcAft>
                <a:spcPts val="1400"/>
              </a:spcAft>
              <a:defRPr sz="1100">
                <a:solidFill>
                  <a:srgbClr val="F59E0B"/>
                </a:solidFill>
                <a:latin typeface="Consolas"/>
              </a:defRPr>
            </a:pPr>
            <a:r>
              <a:t>station_id=SFBU-LAB-01&amp;</a:t>
            </a:r>
            <a:br/>
            <a:r>
              <a:t>operator_callsign=0xGhost&amp;</a:t>
            </a:r>
            <a:br/>
            <a:r>
              <a:t>auth_token=sfbu{w1r3sh4rk_p4ck3t_sn1ff3r_2026}</a:t>
            </a:r>
          </a:p>
          <a:p>
            <a:pPr>
              <a:defRPr sz="1200">
                <a:solidFill>
                  <a:srgbClr val="94A3B8"/>
                </a:solidFill>
                <a:latin typeface="Consolas"/>
              </a:defRPr>
            </a:pPr>
            <a:r>
              <a:t>FLAG RECOVERED:</a:t>
            </a:r>
          </a:p>
          <a:p>
            <a:pPr>
              <a:defRPr sz="1500" b="1">
                <a:solidFill>
                  <a:srgbClr val="4ADE80"/>
                </a:solidFill>
                <a:latin typeface="Consolas"/>
              </a:defRPr>
            </a:pPr>
            <a:r>
              <a:t>sfbu{w1r3sh4rk_p4ck3t_sn1ff3r_2026}</a:t>
            </a:r>
          </a:p>
        </p:txBody>
      </p:sp>
      <p:sp>
        <p:nvSpPr>
          <p:cNvPr id="7" name="Rounded Rectangle 6"/>
          <p:cNvSpPr/>
          <p:nvPr/>
        </p:nvSpPr>
        <p:spPr>
          <a:xfrm>
            <a:off x="731520" y="5715000"/>
            <a:ext cx="10728655" cy="5943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8FAFC"/>
                </a:solidFill>
                <a:latin typeface="Segoe UI"/>
              </a:defRPr>
            </a:pPr>
            <a:r>
              <a:t>⚠️ KEY TAKEAWAY: Plaintext traffic over standard or non-standard ports (80, 8080) leaks credentials to any network tap.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0040"/>
          </a:xfrm>
          <a:prstGeom prst="roundRect">
            <a:avLst/>
          </a:prstGeom>
          <a:solidFill>
            <a:srgbClr val="0F172A"/>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LOOKING AHEAD</a:t>
            </a:r>
          </a:p>
        </p:txBody>
      </p:sp>
      <p:sp>
        <p:nvSpPr>
          <p:cNvPr id="4" name="TextBox 3"/>
          <p:cNvSpPr txBox="1"/>
          <p:nvPr/>
        </p:nvSpPr>
        <p:spPr>
          <a:xfrm>
            <a:off x="731520" y="749808"/>
            <a:ext cx="10728655" cy="731520"/>
          </a:xfrm>
          <a:prstGeom prst="rect">
            <a:avLst/>
          </a:prstGeom>
          <a:noFill/>
        </p:spPr>
        <p:txBody>
          <a:bodyPr wrap="square">
            <a:spAutoFit/>
          </a:bodyPr>
          <a:lstStyle/>
          <a:p>
            <a:pPr>
              <a:defRPr sz="2800" b="1">
                <a:solidFill>
                  <a:srgbClr val="F8FAFC"/>
                </a:solidFill>
                <a:latin typeface="Segoe UI"/>
              </a:defRPr>
            </a:pPr>
            <a:r>
              <a:t>Next Steps &amp; Looking Ahead</a:t>
            </a:r>
          </a:p>
        </p:txBody>
      </p:sp>
      <p:sp>
        <p:nvSpPr>
          <p:cNvPr id="5" name="Rounded Rectangle 4"/>
          <p:cNvSpPr/>
          <p:nvPr/>
        </p:nvSpPr>
        <p:spPr>
          <a:xfrm>
            <a:off x="731520" y="1572768"/>
            <a:ext cx="6583680" cy="4663440"/>
          </a:xfrm>
          <a:prstGeom prst="roundRect">
            <a:avLst/>
          </a:prstGeom>
          <a:solidFill>
            <a:srgbClr val="111827"/>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20040"/>
          <a:lstStyle/>
          <a:p>
            <a:pPr algn="ctr">
              <a:defRPr sz="1500" b="1">
                <a:solidFill>
                  <a:srgbClr val="00F0FF"/>
                </a:solidFill>
                <a:latin typeface="Consolas"/>
              </a:defRPr>
            </a:pPr>
            <a:r>
              <a:t>🚀 NEXT WEEK: RECON &amp; OSINT</a:t>
            </a:r>
          </a:p>
          <a:p>
            <a:pPr>
              <a:spcBef>
                <a:spcPts val="400"/>
              </a:spcBef>
              <a:spcAft>
                <a:spcPts val="1400"/>
              </a:spcAft>
              <a:defRPr sz="1650" b="1">
                <a:solidFill>
                  <a:srgbClr val="F8FAFC"/>
                </a:solidFill>
                <a:latin typeface="Segoe UI"/>
              </a:defRPr>
            </a:pPr>
            <a:r>
              <a:t>Active/Passive Reconnaissance, Nmap Network Scanning &amp; Google Dorking</a:t>
            </a:r>
          </a:p>
          <a:p>
            <a:pPr>
              <a:defRPr sz="1300" b="1">
                <a:solidFill>
                  <a:srgbClr val="38BDF8"/>
                </a:solidFill>
                <a:latin typeface="Consolas"/>
              </a:defRPr>
            </a:pPr>
            <a:r>
              <a:t>📅 LEADERBOARD UPDATE</a:t>
            </a:r>
          </a:p>
          <a:p>
            <a:pPr>
              <a:spcAft>
                <a:spcPts val="1400"/>
              </a:spcAft>
              <a:defRPr sz="1300">
                <a:solidFill>
                  <a:srgbClr val="CBD5E1"/>
                </a:solidFill>
                <a:latin typeface="Segoe UI"/>
              </a:defRPr>
            </a:pPr>
            <a:r>
              <a:t>Points from today's attendance (+50) and Challenge 0x02 (+100) are being tallied. Check your tier progress on the leaderboard!</a:t>
            </a:r>
          </a:p>
          <a:p>
            <a:pPr>
              <a:defRPr sz="1300" b="1">
                <a:solidFill>
                  <a:srgbClr val="4ADE80"/>
                </a:solidFill>
                <a:latin typeface="Consolas"/>
              </a:defRPr>
            </a:pPr>
            <a:r>
              <a:t>📫 CONTACTS</a:t>
            </a:r>
          </a:p>
          <a:p>
            <a:pPr>
              <a:defRPr sz="1250">
                <a:solidFill>
                  <a:srgbClr val="F8FAFC"/>
                </a:solidFill>
                <a:latin typeface="Segoe UI"/>
              </a:defRPr>
            </a:pPr>
            <a:r>
              <a:t>• Khoi Duong (President) — mduong@student.sfbu.edu</a:t>
            </a:r>
            <a:br/>
            <a:r>
              <a:t>• Joed Prudente (Faculty Advisor) — joed.prudente@sfbu.edu</a:t>
            </a:r>
          </a:p>
        </p:txBody>
      </p:sp>
      <p:sp>
        <p:nvSpPr>
          <p:cNvPr id="6" name="Rounded Rectangle 5"/>
          <p:cNvSpPr/>
          <p:nvPr/>
        </p:nvSpPr>
        <p:spPr>
          <a:xfrm>
            <a:off x="7589520" y="1572768"/>
            <a:ext cx="3870655" cy="4663440"/>
          </a:xfrm>
          <a:prstGeom prst="roundRect">
            <a:avLst/>
          </a:prstGeom>
          <a:solidFill>
            <a:srgbClr val="111827"/>
          </a:solidFill>
          <a:ln w="1905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tIns="320040"/>
          <a:lstStyle/>
          <a:p>
            <a:pPr algn="ctr">
              <a:defRPr sz="1400" b="1">
                <a:solidFill>
                  <a:srgbClr val="4ADE80"/>
                </a:solidFill>
                <a:latin typeface="Consolas"/>
              </a:defRPr>
            </a:pPr>
            <a:r>
              <a:t>WHATSAPP COMMUNITY</a:t>
            </a:r>
          </a:p>
        </p:txBody>
      </p:sp>
      <p:pic>
        <p:nvPicPr>
          <p:cNvPr id="7" name="Picture 6" descr="qr.png"/>
          <p:cNvPicPr>
            <a:picLocks noChangeAspect="1"/>
          </p:cNvPicPr>
          <p:nvPr/>
        </p:nvPicPr>
        <p:blipFill>
          <a:blip r:embed="rId2"/>
          <a:stretch>
            <a:fillRect/>
          </a:stretch>
        </p:blipFill>
        <p:spPr>
          <a:xfrm>
            <a:off x="8472830" y="2304288"/>
            <a:ext cx="2103120" cy="2103120"/>
          </a:xfrm>
          <a:prstGeom prst="rect">
            <a:avLst/>
          </a:prstGeom>
        </p:spPr>
      </p:pic>
      <p:sp>
        <p:nvSpPr>
          <p:cNvPr id="8" name="TextBox 7"/>
          <p:cNvSpPr txBox="1"/>
          <p:nvPr/>
        </p:nvSpPr>
        <p:spPr>
          <a:xfrm>
            <a:off x="7680960" y="4590288"/>
            <a:ext cx="3687775" cy="1188720"/>
          </a:xfrm>
          <a:prstGeom prst="rect">
            <a:avLst/>
          </a:prstGeom>
          <a:noFill/>
        </p:spPr>
        <p:txBody>
          <a:bodyPr wrap="square">
            <a:spAutoFit/>
          </a:bodyPr>
          <a:lstStyle/>
          <a:p>
            <a:pPr algn="ctr">
              <a:defRPr sz="2800" b="1">
                <a:solidFill>
                  <a:srgbClr val="F8FAFC"/>
                </a:solidFill>
                <a:latin typeface="Segoe UI"/>
              </a:defRPr>
            </a:pPr>
            <a:r>
              <a:t>QUESTIONS?</a:t>
            </a:r>
          </a:p>
          <a:p>
            <a:pPr algn="ctr">
              <a:defRPr sz="1200">
                <a:solidFill>
                  <a:srgbClr val="CBD5E1"/>
                </a:solidFill>
                <a:latin typeface="Segoe UI"/>
              </a:defRPr>
            </a:pPr>
            <a:r>
              <a:t>The floor is now open for Q&amp;A, lab troubleshooting, or discussing CTF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