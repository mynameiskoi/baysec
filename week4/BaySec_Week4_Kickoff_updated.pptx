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the official kickoff of BaySec @ SFBU! While everyone gets seated, take a moment to scan the QR codes on screen to mark your attendance and get plugged into our official WhatsApp group. That’s where we’ll drop lab resources, room updates, and CTF announcements.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saw our flyers around campus, you might have tackled the ciphers. Both the hexadecimal sequence and the ROT-13 text translated to 'BaySec is here.' Today, we’re officially here. Our goal is simple: take the concepts you study in class and apply them directly to live defense, penetration testing, and security tooling.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have to pick just one discipline. Whether you want to learn how attackers break into web apps, how SOC analysts hunt threats in network logs, or how prompt injection cracks AI systems, you can move between tracks based on what excites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session we host is designed to be hands-on. Instead of dry lectures, we run live walkthroughs, simulate defenses, and build practical skills. Later this term, we’ll host a campus-wide Security Open House and cap it off with our own BaySec CTF.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a rep-based craft. You don’t need expensive certifications or paid subscriptions to start. TryHackMe's free tier, OverTheWire Bandit, and CyberChef are all you need to build muscle memory right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this into practice immediately. Pull out your laptop or phone and go to the URL on screen. An operator left an authorization token lingering inside this page. Your mission is to find it and extract the flag. You have 5 minutes—go!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Great job to everyone who caught that! The core flaw here is trusting the client side. If it ships to the user's browser—even inside an HTML comment—it’s public knowledge. Base64 is encoding, not encryption.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week, we kick off Lab 01 with Linux CLI survival skills and packet sniffing in Wireshark. Watch WhatsApp for the locked-in room and time slot. Thank you for coming out, and let’s open up the floor for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0" y="548640"/>
            <a:ext cx="3047695" cy="347472"/>
          </a:xfrm>
          <a:prstGeom prst="roundRect">
            <a:avLst/>
          </a:prstGeom>
          <a:solidFill>
            <a:srgbClr val="0F172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F0FF"/>
                </a:solidFill>
                <a:latin typeface="Consolas"/>
              </a:defRPr>
            </a:pPr>
            <a:r>
              <a:t>KICKOFF MEETING | FALL 2026</a:t>
            </a:r>
          </a:p>
        </p:txBody>
      </p:sp>
      <p:sp>
        <p:nvSpPr>
          <p:cNvPr id="4" name="TextBox 3"/>
          <p:cNvSpPr txBox="1"/>
          <p:nvPr/>
        </p:nvSpPr>
        <p:spPr>
          <a:xfrm>
            <a:off x="914400" y="1051560"/>
            <a:ext cx="10362895" cy="1188720"/>
          </a:xfrm>
          <a:prstGeom prst="rect">
            <a:avLst/>
          </a:prstGeom>
          <a:noFill/>
        </p:spPr>
        <p:txBody>
          <a:bodyPr wrap="square">
            <a:spAutoFit/>
          </a:bodyPr>
          <a:lstStyle/>
          <a:p>
            <a:pPr algn="ctr">
              <a:defRPr sz="4400" b="1">
                <a:solidFill>
                  <a:srgbClr val="F8FAFC"/>
                </a:solidFill>
                <a:latin typeface="Segoe UI"/>
              </a:defRPr>
            </a:pPr>
            <a:r>
              <a:t>BaySec @ SFBU</a:t>
            </a:r>
          </a:p>
        </p:txBody>
      </p:sp>
      <p:sp>
        <p:nvSpPr>
          <p:cNvPr id="5" name="TextBox 4"/>
          <p:cNvSpPr txBox="1"/>
          <p:nvPr/>
        </p:nvSpPr>
        <p:spPr>
          <a:xfrm>
            <a:off x="914400" y="2103120"/>
            <a:ext cx="10362895" cy="548640"/>
          </a:xfrm>
          <a:prstGeom prst="rect">
            <a:avLst/>
          </a:prstGeom>
          <a:noFill/>
        </p:spPr>
        <p:txBody>
          <a:bodyPr wrap="none">
            <a:spAutoFit/>
          </a:bodyPr>
          <a:lstStyle/>
          <a:p>
            <a:pPr algn="ctr">
              <a:defRPr sz="2000">
                <a:solidFill>
                  <a:srgbClr val="38BDF8"/>
                </a:solidFill>
                <a:latin typeface="Segoe UI"/>
              </a:defRPr>
            </a:pPr>
            <a:r>
              <a:t>Securing the Bay, One Byte at a Time</a:t>
            </a:r>
          </a:p>
        </p:txBody>
      </p:sp>
      <p:pic>
        <p:nvPicPr>
          <p:cNvPr id="6" name="Picture 5" descr="baysec-blue.png"/>
          <p:cNvPicPr>
            <a:picLocks noChangeAspect="1"/>
          </p:cNvPicPr>
          <p:nvPr/>
        </p:nvPicPr>
        <p:blipFill>
          <a:blip r:embed="rId2"/>
          <a:stretch>
            <a:fillRect/>
          </a:stretch>
        </p:blipFill>
        <p:spPr>
          <a:xfrm>
            <a:off x="3947007" y="2743200"/>
            <a:ext cx="2011680" cy="2011680"/>
          </a:xfrm>
          <a:prstGeom prst="rect">
            <a:avLst/>
          </a:prstGeom>
        </p:spPr>
      </p:pic>
      <p:pic>
        <p:nvPicPr>
          <p:cNvPr id="7" name="Picture 6" descr="baysec-red.png"/>
          <p:cNvPicPr>
            <a:picLocks noChangeAspect="1"/>
          </p:cNvPicPr>
          <p:nvPr/>
        </p:nvPicPr>
        <p:blipFill>
          <a:blip r:embed="rId3"/>
          <a:stretch>
            <a:fillRect/>
          </a:stretch>
        </p:blipFill>
        <p:spPr>
          <a:xfrm>
            <a:off x="6233007" y="2743200"/>
            <a:ext cx="2011680" cy="2011680"/>
          </a:xfrm>
          <a:prstGeom prst="rect">
            <a:avLst/>
          </a:prstGeom>
        </p:spPr>
      </p:pic>
      <p:sp>
        <p:nvSpPr>
          <p:cNvPr id="8" name="TextBox 7"/>
          <p:cNvSpPr txBox="1"/>
          <p:nvPr/>
        </p:nvSpPr>
        <p:spPr>
          <a:xfrm>
            <a:off x="2286000" y="4892040"/>
            <a:ext cx="7619695" cy="731520"/>
          </a:xfrm>
          <a:prstGeom prst="rect">
            <a:avLst/>
          </a:prstGeom>
          <a:noFill/>
        </p:spPr>
        <p:txBody>
          <a:bodyPr wrap="square">
            <a:spAutoFit/>
          </a:bodyPr>
          <a:lstStyle/>
          <a:p>
            <a:pPr algn="ctr">
              <a:defRPr sz="1400">
                <a:solidFill>
                  <a:srgbClr val="CBD5E1"/>
                </a:solidFill>
                <a:latin typeface="Segoe UI"/>
              </a:defRPr>
            </a:pPr>
            <a:r>
              <a:t>Welcome! Please scan the QR codes to check in and join our active channels while we set up.</a:t>
            </a:r>
          </a:p>
        </p:txBody>
      </p:sp>
      <p:sp>
        <p:nvSpPr>
          <p:cNvPr id="9" name="Rounded Rectangle 8"/>
          <p:cNvSpPr/>
          <p:nvPr/>
        </p:nvSpPr>
        <p:spPr>
          <a:xfrm>
            <a:off x="731520" y="4480560"/>
            <a:ext cx="2103120" cy="2011680"/>
          </a:xfrm>
          <a:prstGeom prst="roundRect">
            <a:avLst/>
          </a:prstGeom>
          <a:solidFill>
            <a:srgbClr val="111827"/>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r_attendance.png"/>
          <p:cNvPicPr>
            <a:picLocks noChangeAspect="1"/>
          </p:cNvPicPr>
          <p:nvPr/>
        </p:nvPicPr>
        <p:blipFill>
          <a:blip r:embed="rId4"/>
          <a:stretch>
            <a:fillRect/>
          </a:stretch>
        </p:blipFill>
        <p:spPr>
          <a:xfrm>
            <a:off x="1051560" y="4617720"/>
            <a:ext cx="1463040" cy="1463040"/>
          </a:xfrm>
          <a:prstGeom prst="rect">
            <a:avLst/>
          </a:prstGeom>
        </p:spPr>
      </p:pic>
      <p:sp>
        <p:nvSpPr>
          <p:cNvPr id="11" name="TextBox 10"/>
          <p:cNvSpPr txBox="1"/>
          <p:nvPr/>
        </p:nvSpPr>
        <p:spPr>
          <a:xfrm>
            <a:off x="731520" y="6080760"/>
            <a:ext cx="2103120" cy="365760"/>
          </a:xfrm>
          <a:prstGeom prst="rect">
            <a:avLst/>
          </a:prstGeom>
          <a:noFill/>
        </p:spPr>
        <p:txBody>
          <a:bodyPr wrap="none">
            <a:spAutoFit/>
          </a:bodyPr>
          <a:lstStyle/>
          <a:p>
            <a:pPr algn="ctr">
              <a:defRPr sz="1100" b="1">
                <a:solidFill>
                  <a:srgbClr val="00F0FF"/>
                </a:solidFill>
                <a:latin typeface="Segoe UI"/>
              </a:defRPr>
            </a:pPr>
            <a:r>
              <a:t>Scan for Attendance</a:t>
            </a:r>
          </a:p>
        </p:txBody>
      </p:sp>
      <p:sp>
        <p:nvSpPr>
          <p:cNvPr id="12" name="Rounded Rectangle 11"/>
          <p:cNvSpPr/>
          <p:nvPr/>
        </p:nvSpPr>
        <p:spPr>
          <a:xfrm>
            <a:off x="9357055" y="4480560"/>
            <a:ext cx="2103120" cy="2011680"/>
          </a:xfrm>
          <a:prstGeom prst="roundRect">
            <a:avLst/>
          </a:prstGeom>
          <a:solidFill>
            <a:srgbClr val="111827"/>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qr.png"/>
          <p:cNvPicPr>
            <a:picLocks noChangeAspect="1"/>
          </p:cNvPicPr>
          <p:nvPr/>
        </p:nvPicPr>
        <p:blipFill>
          <a:blip r:embed="rId5"/>
          <a:stretch>
            <a:fillRect/>
          </a:stretch>
        </p:blipFill>
        <p:spPr>
          <a:xfrm>
            <a:off x="9677095" y="4617720"/>
            <a:ext cx="1463040" cy="1463040"/>
          </a:xfrm>
          <a:prstGeom prst="rect">
            <a:avLst/>
          </a:prstGeom>
        </p:spPr>
      </p:pic>
      <p:sp>
        <p:nvSpPr>
          <p:cNvPr id="14" name="TextBox 13"/>
          <p:cNvSpPr txBox="1"/>
          <p:nvPr/>
        </p:nvSpPr>
        <p:spPr>
          <a:xfrm>
            <a:off x="9357055" y="6080760"/>
            <a:ext cx="2103120" cy="365760"/>
          </a:xfrm>
          <a:prstGeom prst="rect">
            <a:avLst/>
          </a:prstGeom>
          <a:noFill/>
        </p:spPr>
        <p:txBody>
          <a:bodyPr wrap="none">
            <a:spAutoFit/>
          </a:bodyPr>
          <a:lstStyle/>
          <a:p>
            <a:pPr algn="ctr">
              <a:defRPr sz="1100" b="1">
                <a:solidFill>
                  <a:srgbClr val="4ADE80"/>
                </a:solidFill>
                <a:latin typeface="Segoe UI"/>
              </a:defRPr>
            </a:pPr>
            <a:r>
              <a:t>Join WhatsApp Community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INTRODUCTION &amp; REVEAL</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Welcome to BaySec</a:t>
            </a:r>
          </a:p>
        </p:txBody>
      </p:sp>
      <p:sp>
        <p:nvSpPr>
          <p:cNvPr id="5" name="Rounded Rectangle 4"/>
          <p:cNvSpPr/>
          <p:nvPr/>
        </p:nvSpPr>
        <p:spPr>
          <a:xfrm>
            <a:off x="731520" y="1572768"/>
            <a:ext cx="5120640" cy="466344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500" b="1">
                <a:solidFill>
                  <a:srgbClr val="00F0FF"/>
                </a:solidFill>
                <a:latin typeface="Consolas"/>
              </a:defRPr>
            </a:pPr>
            <a:r>
              <a:t>🛡️ OUR MISSION</a:t>
            </a:r>
          </a:p>
          <a:p>
            <a:pPr>
              <a:spcBef>
                <a:spcPts val="1000"/>
              </a:spcBef>
              <a:spcAft>
                <a:spcPts val="2400"/>
              </a:spcAft>
              <a:defRPr sz="1400">
                <a:solidFill>
                  <a:srgbClr val="F8FAFC"/>
                </a:solidFill>
                <a:latin typeface="Segoe UI"/>
              </a:defRPr>
            </a:pPr>
            <a:r>
              <a:t>Bridging academic computer science with real-world ethical hacking, active system defense, and modern AI security.</a:t>
            </a:r>
          </a:p>
          <a:p>
            <a:pPr>
              <a:defRPr sz="1500" b="1">
                <a:solidFill>
                  <a:srgbClr val="38BDF8"/>
                </a:solidFill>
                <a:latin typeface="Consolas"/>
              </a:defRPr>
            </a:pPr>
            <a:r>
              <a:t>👥 LEADERSHIP</a:t>
            </a:r>
          </a:p>
          <a:p>
            <a:pPr>
              <a:spcBef>
                <a:spcPts val="800"/>
              </a:spcBef>
              <a:defRPr sz="1400" b="1">
                <a:solidFill>
                  <a:srgbClr val="F8FAFC"/>
                </a:solidFill>
                <a:latin typeface="Segoe UI"/>
              </a:defRPr>
            </a:pPr>
            <a:r>
              <a:t>• Khoi Duong — Club President</a:t>
            </a:r>
          </a:p>
          <a:p>
            <a:pPr>
              <a:defRPr sz="1200">
                <a:solidFill>
                  <a:srgbClr val="94A3B8"/>
                </a:solidFill>
                <a:latin typeface="Consolas"/>
              </a:defRPr>
            </a:pPr>
            <a:r>
              <a:t>   mduong@student.sfbu.edu</a:t>
            </a:r>
          </a:p>
          <a:p>
            <a:pPr>
              <a:spcBef>
                <a:spcPts val="1200"/>
              </a:spcBef>
              <a:defRPr sz="1400" b="1">
                <a:solidFill>
                  <a:srgbClr val="F8FAFC"/>
                </a:solidFill>
                <a:latin typeface="Segoe UI"/>
              </a:defRPr>
            </a:pPr>
            <a:r>
              <a:t>• Joed Prudente — Faculty Advisor</a:t>
            </a:r>
          </a:p>
          <a:p>
            <a:pPr>
              <a:defRPr sz="1200">
                <a:solidFill>
                  <a:srgbClr val="94A3B8"/>
                </a:solidFill>
                <a:latin typeface="Consolas"/>
              </a:defRPr>
            </a:pPr>
            <a:r>
              <a:t>   joed.prudente@sfbu.edu</a:t>
            </a:r>
          </a:p>
        </p:txBody>
      </p:sp>
      <p:sp>
        <p:nvSpPr>
          <p:cNvPr id="6" name="Rounded Rectangle 5"/>
          <p:cNvSpPr/>
          <p:nvPr/>
        </p:nvSpPr>
        <p:spPr>
          <a:xfrm>
            <a:off x="6339535" y="1572768"/>
            <a:ext cx="5120640" cy="4663440"/>
          </a:xfrm>
          <a:prstGeom prst="roundRect">
            <a:avLst/>
          </a:prstGeom>
          <a:solidFill>
            <a:srgbClr val="111827"/>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500" b="1">
                <a:solidFill>
                  <a:srgbClr val="EF4444"/>
                </a:solidFill>
                <a:latin typeface="Consolas"/>
              </a:defRPr>
            </a:pPr>
            <a:r>
              <a:t>🔓 THE TEASER POSTERS DECODED</a:t>
            </a:r>
          </a:p>
          <a:p>
            <a:pPr>
              <a:spcBef>
                <a:spcPts val="600"/>
              </a:spcBef>
              <a:spcAft>
                <a:spcPts val="1400"/>
              </a:spcAft>
              <a:defRPr sz="1300">
                <a:solidFill>
                  <a:srgbClr val="CBD5E1"/>
                </a:solidFill>
                <a:latin typeface="Segoe UI"/>
              </a:defRPr>
            </a:pPr>
            <a:r>
              <a:t>Did you crack the secret flyers across campus?</a:t>
            </a:r>
          </a:p>
          <a:p>
            <a:pPr>
              <a:defRPr sz="1200" b="1">
                <a:solidFill>
                  <a:srgbClr val="F59E0B"/>
                </a:solidFill>
                <a:latin typeface="Consolas"/>
              </a:defRPr>
            </a:pPr>
            <a:r>
              <a:t>CIPHER 1: HEXADECIMAL STREAM</a:t>
            </a:r>
          </a:p>
          <a:p>
            <a:pPr>
              <a:defRPr sz="1100">
                <a:solidFill>
                  <a:srgbClr val="CBD5E1"/>
                </a:solidFill>
                <a:latin typeface="Consolas"/>
              </a:defRPr>
            </a:pPr>
            <a:r>
              <a:t>RAW:  42 61 79 53 65 63 20 69 73 20 68 65 72 65</a:t>
            </a:r>
          </a:p>
          <a:p>
            <a:pPr>
              <a:spcAft>
                <a:spcPts val="1600"/>
              </a:spcAft>
              <a:defRPr sz="1300" b="1">
                <a:solidFill>
                  <a:srgbClr val="4ADE80"/>
                </a:solidFill>
                <a:latin typeface="Consolas"/>
              </a:defRPr>
            </a:pPr>
            <a:r>
              <a:t>SOLVED ➔ "BaySec is here"</a:t>
            </a:r>
          </a:p>
          <a:p>
            <a:pPr>
              <a:defRPr sz="1200" b="1">
                <a:solidFill>
                  <a:srgbClr val="F59E0B"/>
                </a:solidFill>
                <a:latin typeface="Consolas"/>
              </a:defRPr>
            </a:pPr>
            <a:r>
              <a:t>CIPHER 2: ROT-13 SUBSTITUTION</a:t>
            </a:r>
          </a:p>
          <a:p>
            <a:pPr>
              <a:defRPr sz="1200">
                <a:solidFill>
                  <a:srgbClr val="CBD5E1"/>
                </a:solidFill>
                <a:latin typeface="Consolas"/>
              </a:defRPr>
            </a:pPr>
            <a:r>
              <a:t>RAW:  Onlfrp vf urer</a:t>
            </a:r>
          </a:p>
          <a:p>
            <a:pPr>
              <a:spcAft>
                <a:spcPts val="1400"/>
              </a:spcAft>
              <a:defRPr sz="1300" b="1">
                <a:solidFill>
                  <a:srgbClr val="4ADE80"/>
                </a:solidFill>
                <a:latin typeface="Consolas"/>
              </a:defRPr>
            </a:pPr>
            <a:r>
              <a:t>SOLVED ➔ "BaySec is here"</a:t>
            </a:r>
          </a:p>
          <a:p>
            <a:pPr>
              <a:defRPr sz="1200" i="1">
                <a:solidFill>
                  <a:srgbClr val="00F0FF"/>
                </a:solidFill>
                <a:latin typeface="Segoe UI"/>
              </a:defRPr>
            </a:pPr>
            <a:r>
              <a:t>✓ Both paths converged. Welcome to the club.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CURRICULUM TRACKS</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Choose Your Path (Or Explore All Three)</a:t>
            </a:r>
          </a:p>
        </p:txBody>
      </p:sp>
      <p:sp>
        <p:nvSpPr>
          <p:cNvPr id="5" name="Rounded Rectangle 4"/>
          <p:cNvSpPr/>
          <p:nvPr/>
        </p:nvSpPr>
        <p:spPr>
          <a:xfrm>
            <a:off x="731520" y="1572768"/>
            <a:ext cx="3328416" cy="3931920"/>
          </a:xfrm>
          <a:prstGeom prst="roundRect">
            <a:avLst/>
          </a:prstGeom>
          <a:solidFill>
            <a:srgbClr val="111827"/>
          </a:solidFill>
          <a:ln w="254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700" b="1">
                <a:solidFill>
                  <a:srgbClr val="00F0FF"/>
                </a:solidFill>
                <a:latin typeface="Consolas"/>
              </a:defRPr>
            </a:pPr>
            <a:r>
              <a:t>BLUE TEAM</a:t>
            </a:r>
          </a:p>
          <a:p>
            <a:pPr>
              <a:spcAft>
                <a:spcPts val="1800"/>
              </a:spcAft>
              <a:defRPr sz="1200">
                <a:solidFill>
                  <a:srgbClr val="94A3B8"/>
                </a:solidFill>
                <a:latin typeface="Segoe UI"/>
              </a:defRPr>
            </a:pPr>
            <a:r>
              <a:t>Active Defense &amp; Triage</a:t>
            </a:r>
          </a:p>
          <a:p>
            <a:pPr>
              <a:spcBef>
                <a:spcPts val="800"/>
              </a:spcBef>
              <a:defRPr sz="1300">
                <a:solidFill>
                  <a:srgbClr val="F8FAFC"/>
                </a:solidFill>
                <a:latin typeface="Segoe UI"/>
              </a:defRPr>
            </a:pPr>
            <a:r>
              <a:t>▸  Threat detection &amp; incident triage</a:t>
            </a:r>
          </a:p>
          <a:p>
            <a:pPr>
              <a:spcBef>
                <a:spcPts val="800"/>
              </a:spcBef>
              <a:defRPr sz="1300">
                <a:solidFill>
                  <a:srgbClr val="F8FAFC"/>
                </a:solidFill>
                <a:latin typeface="Segoe UI"/>
              </a:defRPr>
            </a:pPr>
            <a:r>
              <a:t>▸  Network traffic analysis (Wireshark)</a:t>
            </a:r>
          </a:p>
          <a:p>
            <a:pPr>
              <a:spcBef>
                <a:spcPts val="800"/>
              </a:spcBef>
              <a:defRPr sz="1300">
                <a:solidFill>
                  <a:srgbClr val="F8FAFC"/>
                </a:solidFill>
                <a:latin typeface="Segoe UI"/>
              </a:defRPr>
            </a:pPr>
            <a:r>
              <a:t>▸  SIEM monitoring &amp; defensive posture</a:t>
            </a:r>
          </a:p>
          <a:p>
            <a:pPr>
              <a:spcBef>
                <a:spcPts val="800"/>
              </a:spcBef>
              <a:defRPr sz="1300">
                <a:solidFill>
                  <a:srgbClr val="F8FAFC"/>
                </a:solidFill>
                <a:latin typeface="Segoe UI"/>
              </a:defRPr>
            </a:pPr>
            <a:r>
              <a:t>▸  Log auditing &amp; host forensics</a:t>
            </a:r>
          </a:p>
        </p:txBody>
      </p:sp>
      <p:sp>
        <p:nvSpPr>
          <p:cNvPr id="6" name="Rounded Rectangle 5"/>
          <p:cNvSpPr/>
          <p:nvPr/>
        </p:nvSpPr>
        <p:spPr>
          <a:xfrm>
            <a:off x="4425696" y="1572768"/>
            <a:ext cx="3328416" cy="3931920"/>
          </a:xfrm>
          <a:prstGeom prst="roundRect">
            <a:avLst/>
          </a:prstGeom>
          <a:solidFill>
            <a:srgbClr val="111827"/>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700" b="1">
                <a:solidFill>
                  <a:srgbClr val="EF4444"/>
                </a:solidFill>
                <a:latin typeface="Consolas"/>
              </a:defRPr>
            </a:pPr>
            <a:r>
              <a:t>RED TEAM</a:t>
            </a:r>
          </a:p>
          <a:p>
            <a:pPr>
              <a:spcAft>
                <a:spcPts val="1800"/>
              </a:spcAft>
              <a:defRPr sz="1200">
                <a:solidFill>
                  <a:srgbClr val="94A3B8"/>
                </a:solidFill>
                <a:latin typeface="Segoe UI"/>
              </a:defRPr>
            </a:pPr>
            <a:r>
              <a:t>Offense &amp; Penetration Testing</a:t>
            </a:r>
          </a:p>
          <a:p>
            <a:pPr>
              <a:spcBef>
                <a:spcPts val="800"/>
              </a:spcBef>
              <a:defRPr sz="1300">
                <a:solidFill>
                  <a:srgbClr val="F8FAFC"/>
                </a:solidFill>
                <a:latin typeface="Segoe UI"/>
              </a:defRPr>
            </a:pPr>
            <a:r>
              <a:t>▸  Web application security &amp; OWASP Top 10</a:t>
            </a:r>
          </a:p>
          <a:p>
            <a:pPr>
              <a:spcBef>
                <a:spcPts val="800"/>
              </a:spcBef>
              <a:defRPr sz="1300">
                <a:solidFill>
                  <a:srgbClr val="F8FAFC"/>
                </a:solidFill>
                <a:latin typeface="Segoe UI"/>
              </a:defRPr>
            </a:pPr>
            <a:r>
              <a:t>▸  Ethical exploitation &amp; penetration testing</a:t>
            </a:r>
          </a:p>
          <a:p>
            <a:pPr>
              <a:spcBef>
                <a:spcPts val="800"/>
              </a:spcBef>
              <a:defRPr sz="1300">
                <a:solidFill>
                  <a:srgbClr val="F8FAFC"/>
                </a:solidFill>
                <a:latin typeface="Segoe UI"/>
              </a:defRPr>
            </a:pPr>
            <a:r>
              <a:t>▸  Competitive Jeopardy-style CTF challenges</a:t>
            </a:r>
          </a:p>
          <a:p>
            <a:pPr>
              <a:spcBef>
                <a:spcPts val="800"/>
              </a:spcBef>
              <a:defRPr sz="1300">
                <a:solidFill>
                  <a:srgbClr val="F8FAFC"/>
                </a:solidFill>
                <a:latin typeface="Segoe UI"/>
              </a:defRPr>
            </a:pPr>
            <a:r>
              <a:t>▸  Privilege escalation &amp; binary analysis</a:t>
            </a:r>
          </a:p>
        </p:txBody>
      </p:sp>
      <p:sp>
        <p:nvSpPr>
          <p:cNvPr id="7" name="Rounded Rectangle 6"/>
          <p:cNvSpPr/>
          <p:nvPr/>
        </p:nvSpPr>
        <p:spPr>
          <a:xfrm>
            <a:off x="8119872" y="1572768"/>
            <a:ext cx="3328416" cy="3931920"/>
          </a:xfrm>
          <a:prstGeom prst="roundRect">
            <a:avLst/>
          </a:prstGeom>
          <a:solidFill>
            <a:srgbClr val="111827"/>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700" b="1">
                <a:solidFill>
                  <a:srgbClr val="A855F7"/>
                </a:solidFill>
                <a:latin typeface="Consolas"/>
              </a:defRPr>
            </a:pPr>
            <a:r>
              <a:t>EMERGING TECH</a:t>
            </a:r>
          </a:p>
          <a:p>
            <a:pPr>
              <a:spcAft>
                <a:spcPts val="1800"/>
              </a:spcAft>
              <a:defRPr sz="1200">
                <a:solidFill>
                  <a:srgbClr val="94A3B8"/>
                </a:solidFill>
                <a:latin typeface="Segoe UI"/>
              </a:defRPr>
            </a:pPr>
            <a:r>
              <a:t>AI Security &amp; Modern Frontiers</a:t>
            </a:r>
          </a:p>
          <a:p>
            <a:pPr>
              <a:spcBef>
                <a:spcPts val="800"/>
              </a:spcBef>
              <a:defRPr sz="1300">
                <a:solidFill>
                  <a:srgbClr val="F8FAFC"/>
                </a:solidFill>
                <a:latin typeface="Segoe UI"/>
              </a:defRPr>
            </a:pPr>
            <a:r>
              <a:t>▸  LLM red-teaming &amp; prompt injection</a:t>
            </a:r>
          </a:p>
          <a:p>
            <a:pPr>
              <a:spcBef>
                <a:spcPts val="800"/>
              </a:spcBef>
              <a:defRPr sz="1300">
                <a:solidFill>
                  <a:srgbClr val="F8FAFC"/>
                </a:solidFill>
                <a:latin typeface="Segoe UI"/>
              </a:defRPr>
            </a:pPr>
            <a:r>
              <a:t>▸  Synthetic media &amp; deepfake detection</a:t>
            </a:r>
          </a:p>
          <a:p>
            <a:pPr>
              <a:spcBef>
                <a:spcPts val="800"/>
              </a:spcBef>
              <a:defRPr sz="1300">
                <a:solidFill>
                  <a:srgbClr val="F8FAFC"/>
                </a:solidFill>
                <a:latin typeface="Segoe UI"/>
              </a:defRPr>
            </a:pPr>
            <a:r>
              <a:t>▸  Defending autonomous agent workflows</a:t>
            </a:r>
          </a:p>
          <a:p>
            <a:pPr>
              <a:spcBef>
                <a:spcPts val="800"/>
              </a:spcBef>
              <a:defRPr sz="1300">
                <a:solidFill>
                  <a:srgbClr val="F8FAFC"/>
                </a:solidFill>
                <a:latin typeface="Segoe UI"/>
              </a:defRPr>
            </a:pPr>
            <a:r>
              <a:t>▸  Adversarial ML attack mitigations</a:t>
            </a:r>
          </a:p>
        </p:txBody>
      </p:sp>
      <p:sp>
        <p:nvSpPr>
          <p:cNvPr id="8" name="Rounded Rectangle 7"/>
          <p:cNvSpPr/>
          <p:nvPr/>
        </p:nvSpPr>
        <p:spPr>
          <a:xfrm>
            <a:off x="731520" y="5715000"/>
            <a:ext cx="10728655"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8FAFC"/>
                </a:solidFill>
                <a:latin typeface="Segoe UI"/>
              </a:defRPr>
            </a:pPr>
            <a:r>
              <a:t>⚡ Zero prior experience required. You do not need to lock yourself into a single path.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SEMESTER ROADMAP</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What We Are Building This Semester</a:t>
            </a:r>
          </a:p>
        </p:txBody>
      </p:sp>
      <p:sp>
        <p:nvSpPr>
          <p:cNvPr id="5" name="Rounded Rectangle 4"/>
          <p:cNvSpPr/>
          <p:nvPr/>
        </p:nvSpPr>
        <p:spPr>
          <a:xfrm>
            <a:off x="731520" y="1755648"/>
            <a:ext cx="3328416" cy="429768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65760"/>
          <a:lstStyle/>
          <a:p>
            <a:pPr algn="ctr">
              <a:defRPr sz="1300" b="1">
                <a:solidFill>
                  <a:srgbClr val="00F0FF"/>
                </a:solidFill>
                <a:latin typeface="Consolas"/>
              </a:defRPr>
            </a:pPr>
            <a:r>
              <a:t>PHASE 01</a:t>
            </a:r>
          </a:p>
          <a:p>
            <a:pPr>
              <a:spcBef>
                <a:spcPts val="600"/>
              </a:spcBef>
              <a:spcAft>
                <a:spcPts val="2000"/>
              </a:spcAft>
              <a:defRPr sz="1800" b="1">
                <a:solidFill>
                  <a:srgbClr val="F8FAFC"/>
                </a:solidFill>
                <a:latin typeface="Segoe UI"/>
              </a:defRPr>
            </a:pPr>
            <a:r>
              <a:t>Hands-on Weekly Labs</a:t>
            </a:r>
          </a:p>
          <a:p>
            <a:pPr>
              <a:spcBef>
                <a:spcPts val="800"/>
              </a:spcBef>
              <a:defRPr sz="1350">
                <a:solidFill>
                  <a:srgbClr val="CBD5E1"/>
                </a:solidFill>
                <a:latin typeface="Segoe UI"/>
              </a:defRPr>
            </a:pPr>
            <a:r>
              <a:t>Guided interactive sessions covering Linux fundamentals, Burp Suite proxy intercept, packet captures, and exploit isolation in sandbox environments.</a:t>
            </a:r>
          </a:p>
        </p:txBody>
      </p:sp>
      <p:sp>
        <p:nvSpPr>
          <p:cNvPr id="6" name="Rounded Rectangle 5"/>
          <p:cNvSpPr/>
          <p:nvPr/>
        </p:nvSpPr>
        <p:spPr>
          <a:xfrm>
            <a:off x="4425696" y="1755648"/>
            <a:ext cx="3328416" cy="429768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65760"/>
          <a:lstStyle/>
          <a:p>
            <a:pPr algn="ctr">
              <a:defRPr sz="1300" b="1">
                <a:solidFill>
                  <a:srgbClr val="F59E0B"/>
                </a:solidFill>
                <a:latin typeface="Consolas"/>
              </a:defRPr>
            </a:pPr>
            <a:r>
              <a:t>PHASE 02</a:t>
            </a:r>
          </a:p>
          <a:p>
            <a:pPr>
              <a:spcBef>
                <a:spcPts val="600"/>
              </a:spcBef>
              <a:spcAft>
                <a:spcPts val="2000"/>
              </a:spcAft>
              <a:defRPr sz="1800" b="1">
                <a:solidFill>
                  <a:srgbClr val="F8FAFC"/>
                </a:solidFill>
                <a:latin typeface="Segoe UI"/>
              </a:defRPr>
            </a:pPr>
            <a:r>
              <a:t>Campus Defense Initiative</a:t>
            </a:r>
          </a:p>
          <a:p>
            <a:pPr>
              <a:spcBef>
                <a:spcPts val="800"/>
              </a:spcBef>
              <a:defRPr sz="1350">
                <a:solidFill>
                  <a:srgbClr val="CBD5E1"/>
                </a:solidFill>
                <a:latin typeface="Segoe UI"/>
              </a:defRPr>
            </a:pPr>
            <a:r>
              <a:t>Campus-wide Security Open House featuring phishing awareness simulations, password auditing clinics, and live social engineering defense demonstrations.</a:t>
            </a:r>
          </a:p>
        </p:txBody>
      </p:sp>
      <p:sp>
        <p:nvSpPr>
          <p:cNvPr id="7" name="Rounded Rectangle 6"/>
          <p:cNvSpPr/>
          <p:nvPr/>
        </p:nvSpPr>
        <p:spPr>
          <a:xfrm>
            <a:off x="8119872" y="1755648"/>
            <a:ext cx="3328416" cy="4297680"/>
          </a:xfrm>
          <a:prstGeom prst="roundRect">
            <a:avLst/>
          </a:prstGeom>
          <a:solidFill>
            <a:srgbClr val="111827"/>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65760"/>
          <a:lstStyle/>
          <a:p>
            <a:pPr algn="ctr">
              <a:defRPr sz="1300" b="1">
                <a:solidFill>
                  <a:srgbClr val="4ADE80"/>
                </a:solidFill>
                <a:latin typeface="Consolas"/>
              </a:defRPr>
            </a:pPr>
            <a:r>
              <a:t>PHASE 03</a:t>
            </a:r>
          </a:p>
          <a:p>
            <a:pPr>
              <a:spcBef>
                <a:spcPts val="600"/>
              </a:spcBef>
              <a:spcAft>
                <a:spcPts val="2000"/>
              </a:spcAft>
              <a:defRPr sz="1800" b="1">
                <a:solidFill>
                  <a:srgbClr val="F8FAFC"/>
                </a:solidFill>
                <a:latin typeface="Segoe UI"/>
              </a:defRPr>
            </a:pPr>
            <a:r>
              <a:t>BaySec CTF 2026</a:t>
            </a:r>
          </a:p>
          <a:p>
            <a:pPr>
              <a:spcBef>
                <a:spcPts val="800"/>
              </a:spcBef>
              <a:defRPr sz="1350">
                <a:solidFill>
                  <a:srgbClr val="CBD5E1"/>
                </a:solidFill>
                <a:latin typeface="Segoe UI"/>
              </a:defRPr>
            </a:pPr>
            <a:r>
              <a:t>Our flagship 24-hour campus Capture-The-Flag competition with dedicated beginner tracks, jeopardy challenges, scoreboards, and sponsor tech prizes.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SKILL ACCELERATION</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Your Free Security Sandbox</a:t>
            </a:r>
          </a:p>
        </p:txBody>
      </p:sp>
      <p:sp>
        <p:nvSpPr>
          <p:cNvPr id="5" name="TextBox 4"/>
          <p:cNvSpPr txBox="1"/>
          <p:nvPr/>
        </p:nvSpPr>
        <p:spPr>
          <a:xfrm>
            <a:off x="731520" y="1298448"/>
            <a:ext cx="10728655" cy="365760"/>
          </a:xfrm>
          <a:prstGeom prst="rect">
            <a:avLst/>
          </a:prstGeom>
          <a:noFill/>
        </p:spPr>
        <p:txBody>
          <a:bodyPr wrap="none">
            <a:spAutoFit/>
          </a:bodyPr>
          <a:lstStyle/>
          <a:p>
            <a:pPr>
              <a:defRPr sz="1400">
                <a:solidFill>
                  <a:srgbClr val="38BDF8"/>
                </a:solidFill>
                <a:latin typeface="Segoe UI"/>
              </a:defRPr>
            </a:pPr>
            <a:r>
              <a:t>No paid licenses or expensive subscriptions required to become formidable.</a:t>
            </a:r>
          </a:p>
        </p:txBody>
      </p:sp>
      <p:sp>
        <p:nvSpPr>
          <p:cNvPr id="6" name="Rounded Rectangle 5"/>
          <p:cNvSpPr/>
          <p:nvPr/>
        </p:nvSpPr>
        <p:spPr>
          <a:xfrm>
            <a:off x="731520" y="1847088"/>
            <a:ext cx="3328416" cy="3383280"/>
          </a:xfrm>
          <a:prstGeom prst="roundRect">
            <a:avLst/>
          </a:prstGeom>
          <a:solidFill>
            <a:srgbClr val="111827"/>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100" b="1">
                <a:solidFill>
                  <a:srgbClr val="EF4444"/>
                </a:solidFill>
                <a:latin typeface="Consolas"/>
              </a:defRPr>
            </a:pPr>
            <a:r>
              <a:t>WEB &amp; LABS</a:t>
            </a:r>
          </a:p>
          <a:p>
            <a:pPr>
              <a:spcBef>
                <a:spcPts val="400"/>
              </a:spcBef>
              <a:spcAft>
                <a:spcPts val="1400"/>
              </a:spcAft>
              <a:defRPr sz="1600" b="1">
                <a:solidFill>
                  <a:srgbClr val="F8FAFC"/>
                </a:solidFill>
                <a:latin typeface="Segoe UI"/>
              </a:defRPr>
            </a:pPr>
            <a:r>
              <a:t>TryHackMe (Free Tier)</a:t>
            </a:r>
          </a:p>
          <a:p>
            <a:pPr>
              <a:defRPr sz="1300">
                <a:solidFill>
                  <a:srgbClr val="CBD5E1"/>
                </a:solidFill>
                <a:latin typeface="Segoe UI"/>
              </a:defRPr>
            </a:pPr>
            <a:r>
              <a:t>Browser-accessible security rooms and guided capture-the-flag paths for solo practice. Perfect for learning web attack basics and networking fundamentals without configuring local VMs.</a:t>
            </a:r>
          </a:p>
        </p:txBody>
      </p:sp>
      <p:sp>
        <p:nvSpPr>
          <p:cNvPr id="7" name="Rounded Rectangle 6"/>
          <p:cNvSpPr/>
          <p:nvPr/>
        </p:nvSpPr>
        <p:spPr>
          <a:xfrm>
            <a:off x="4425696" y="1847088"/>
            <a:ext cx="3328416" cy="3383280"/>
          </a:xfrm>
          <a:prstGeom prst="roundRect">
            <a:avLst/>
          </a:prstGeom>
          <a:solidFill>
            <a:srgbClr val="111827"/>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100" b="1">
                <a:solidFill>
                  <a:srgbClr val="4ADE80"/>
                </a:solidFill>
                <a:latin typeface="Consolas"/>
              </a:defRPr>
            </a:pPr>
            <a:r>
              <a:t>LINUX MASTERY</a:t>
            </a:r>
          </a:p>
          <a:p>
            <a:pPr>
              <a:spcBef>
                <a:spcPts val="400"/>
              </a:spcBef>
              <a:spcAft>
                <a:spcPts val="1400"/>
              </a:spcAft>
              <a:defRPr sz="1600" b="1">
                <a:solidFill>
                  <a:srgbClr val="F8FAFC"/>
                </a:solidFill>
                <a:latin typeface="Segoe UI"/>
              </a:defRPr>
            </a:pPr>
            <a:r>
              <a:t>OverTheWire (Bandit)</a:t>
            </a:r>
          </a:p>
          <a:p>
            <a:pPr>
              <a:defRPr sz="1300">
                <a:solidFill>
                  <a:srgbClr val="CBD5E1"/>
                </a:solidFill>
                <a:latin typeface="Segoe UI"/>
              </a:defRPr>
            </a:pPr>
            <a:r>
              <a:t>Gamified, interactive SSH challenge rooms to master Linux command-line essentials. Levels force you to dig through permissions, pipes, hex dumps, and shell redirection.</a:t>
            </a:r>
          </a:p>
        </p:txBody>
      </p:sp>
      <p:sp>
        <p:nvSpPr>
          <p:cNvPr id="8" name="Rounded Rectangle 7"/>
          <p:cNvSpPr/>
          <p:nvPr/>
        </p:nvSpPr>
        <p:spPr>
          <a:xfrm>
            <a:off x="8119872" y="1847088"/>
            <a:ext cx="3328416" cy="338328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100" b="1">
                <a:solidFill>
                  <a:srgbClr val="00F0FF"/>
                </a:solidFill>
                <a:latin typeface="Consolas"/>
              </a:defRPr>
            </a:pPr>
            <a:r>
              <a:t>THE SWISS ARMY KNIFE</a:t>
            </a:r>
          </a:p>
          <a:p>
            <a:pPr>
              <a:spcBef>
                <a:spcPts val="400"/>
              </a:spcBef>
              <a:spcAft>
                <a:spcPts val="1400"/>
              </a:spcAft>
              <a:defRPr sz="1600" b="1">
                <a:solidFill>
                  <a:srgbClr val="F8FAFC"/>
                </a:solidFill>
                <a:latin typeface="Segoe UI"/>
              </a:defRPr>
            </a:pPr>
            <a:r>
              <a:t>CyberChef</a:t>
            </a:r>
          </a:p>
          <a:p>
            <a:pPr>
              <a:defRPr sz="1300">
                <a:solidFill>
                  <a:srgbClr val="CBD5E1"/>
                </a:solidFill>
                <a:latin typeface="Segoe UI"/>
              </a:defRPr>
            </a:pPr>
            <a:r>
              <a:t>The browser-based utility by GCHQ for decoding ciphers, Base64 strings, calculating hashes, and unpacking obfuscated malware payloads with simple drag-and-drop operations.</a:t>
            </a:r>
          </a:p>
        </p:txBody>
      </p:sp>
      <p:sp>
        <p:nvSpPr>
          <p:cNvPr id="9" name="Rounded Rectangle 8"/>
          <p:cNvSpPr/>
          <p:nvPr/>
        </p:nvSpPr>
        <p:spPr>
          <a:xfrm>
            <a:off x="731520" y="5532120"/>
            <a:ext cx="10728655" cy="731520"/>
          </a:xfrm>
          <a:prstGeom prst="roundRect">
            <a:avLst/>
          </a:prstGeom>
          <a:solidFill>
            <a:srgbClr val="0F172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8FAFC"/>
                </a:solidFill>
                <a:latin typeface="Segoe UI"/>
              </a:defRPr>
            </a:pPr>
            <a:r>
              <a:t>💡 SFBU provides the lab space; these free platforms give you unlimited sandbox reps outside meetings.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LIVE HANDS-ON CTF</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Challenge 0x01: The Leaked Credential</a:t>
            </a:r>
          </a:p>
        </p:txBody>
      </p:sp>
      <p:sp>
        <p:nvSpPr>
          <p:cNvPr id="5" name="Rounded Rectangle 4"/>
          <p:cNvSpPr/>
          <p:nvPr/>
        </p:nvSpPr>
        <p:spPr>
          <a:xfrm>
            <a:off x="731520" y="1572768"/>
            <a:ext cx="7498079" cy="4754880"/>
          </a:xfrm>
          <a:prstGeom prst="roundRect">
            <a:avLst/>
          </a:prstGeom>
          <a:solidFill>
            <a:srgbClr val="0F172A"/>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20040"/>
          <a:lstStyle/>
          <a:p>
            <a:pPr algn="ctr">
              <a:defRPr sz="1400" b="1">
                <a:solidFill>
                  <a:srgbClr val="EF4444"/>
                </a:solidFill>
                <a:latin typeface="Consolas"/>
              </a:defRPr>
            </a:pPr>
            <a:r>
              <a:t>[!] INCIDENT SCENARIO</a:t>
            </a:r>
          </a:p>
          <a:p>
            <a:pPr>
              <a:spcBef>
                <a:spcPts val="400"/>
              </a:spcBef>
              <a:spcAft>
                <a:spcPts val="1800"/>
              </a:spcAft>
              <a:defRPr sz="1400">
                <a:solidFill>
                  <a:srgbClr val="F8FAFC"/>
                </a:solidFill>
                <a:latin typeface="Segoe UI"/>
              </a:defRPr>
            </a:pPr>
            <a:r>
              <a:t>An unauthorized operator left their credentials cached in plain sight on our public test gateway.</a:t>
            </a:r>
          </a:p>
          <a:p>
            <a:pPr>
              <a:defRPr sz="1400" b="1">
                <a:solidFill>
                  <a:srgbClr val="00F0FF"/>
                </a:solidFill>
                <a:latin typeface="Consolas"/>
              </a:defRPr>
            </a:pPr>
            <a:r>
              <a:t>[*] OBJECTIVE</a:t>
            </a:r>
          </a:p>
          <a:p>
            <a:pPr>
              <a:spcBef>
                <a:spcPts val="400"/>
              </a:spcBef>
              <a:spcAft>
                <a:spcPts val="1800"/>
              </a:spcAft>
              <a:defRPr sz="1400">
                <a:solidFill>
                  <a:srgbClr val="F8FAFC"/>
                </a:solidFill>
                <a:latin typeface="Segoe UI"/>
              </a:defRPr>
            </a:pPr>
            <a:r>
              <a:t>Inspect the target surface, extract the hidden string, and decode the payload.</a:t>
            </a:r>
          </a:p>
          <a:p>
            <a:pPr>
              <a:defRPr sz="1400" b="1">
                <a:solidFill>
                  <a:srgbClr val="4ADE80"/>
                </a:solidFill>
                <a:latin typeface="Consolas"/>
              </a:defRPr>
            </a:pPr>
            <a:r>
              <a:t>[#] FLAG FORMAT</a:t>
            </a:r>
          </a:p>
          <a:p>
            <a:pPr>
              <a:spcBef>
                <a:spcPts val="400"/>
              </a:spcBef>
              <a:spcAft>
                <a:spcPts val="2000"/>
              </a:spcAft>
              <a:defRPr sz="1800" b="1">
                <a:solidFill>
                  <a:srgbClr val="F8FAFC"/>
                </a:solidFill>
                <a:latin typeface="Consolas"/>
              </a:defRPr>
            </a:pPr>
            <a:r>
              <a:t>sfbu{...}</a:t>
            </a:r>
          </a:p>
          <a:p>
            <a:pPr>
              <a:defRPr sz="1200">
                <a:solidFill>
                  <a:srgbClr val="38BDF8"/>
                </a:solidFill>
                <a:latin typeface="Consolas"/>
              </a:defRPr>
            </a:pPr>
            <a:r>
              <a:t>TARGET GATEWAY: https://MynameisKoi.github.io/baysec/week4/</a:t>
            </a:r>
          </a:p>
        </p:txBody>
      </p:sp>
      <p:sp>
        <p:nvSpPr>
          <p:cNvPr id="6" name="Rounded Rectangle 5"/>
          <p:cNvSpPr/>
          <p:nvPr/>
        </p:nvSpPr>
        <p:spPr>
          <a:xfrm>
            <a:off x="8503920" y="1572768"/>
            <a:ext cx="2956255" cy="475488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23960" y="1847088"/>
            <a:ext cx="2316175" cy="822960"/>
          </a:xfrm>
          <a:prstGeom prst="round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4A3B8"/>
                </a:solidFill>
                <a:latin typeface="Consolas"/>
              </a:defRPr>
            </a:pPr>
            <a:r>
              <a:t>TIME REMAINING</a:t>
            </a:r>
          </a:p>
          <a:p>
            <a:pPr algn="ctr">
              <a:defRPr sz="2400" b="1">
                <a:solidFill>
                  <a:srgbClr val="EF4444"/>
                </a:solidFill>
                <a:latin typeface="Consolas"/>
              </a:defRPr>
            </a:pPr>
            <a:r>
              <a:t>05:00</a:t>
            </a:r>
          </a:p>
        </p:txBody>
      </p:sp>
      <p:pic>
        <p:nvPicPr>
          <p:cNvPr id="8" name="Picture 7" descr="qr_challenge.png"/>
          <p:cNvPicPr>
            <a:picLocks noChangeAspect="1"/>
          </p:cNvPicPr>
          <p:nvPr/>
        </p:nvPicPr>
        <p:blipFill>
          <a:blip r:embed="rId2"/>
          <a:stretch>
            <a:fillRect/>
          </a:stretch>
        </p:blipFill>
        <p:spPr>
          <a:xfrm>
            <a:off x="8961120" y="2944368"/>
            <a:ext cx="2041855" cy="2041855"/>
          </a:xfrm>
          <a:prstGeom prst="rect">
            <a:avLst/>
          </a:prstGeom>
        </p:spPr>
      </p:pic>
      <p:sp>
        <p:nvSpPr>
          <p:cNvPr id="9" name="TextBox 8"/>
          <p:cNvSpPr txBox="1"/>
          <p:nvPr/>
        </p:nvSpPr>
        <p:spPr>
          <a:xfrm>
            <a:off x="8595360" y="5138928"/>
            <a:ext cx="2743200" cy="822960"/>
          </a:xfrm>
          <a:prstGeom prst="rect">
            <a:avLst/>
          </a:prstGeom>
          <a:noFill/>
        </p:spPr>
        <p:txBody>
          <a:bodyPr wrap="square">
            <a:spAutoFit/>
          </a:bodyPr>
          <a:lstStyle/>
          <a:p>
            <a:pPr algn="ctr">
              <a:defRPr sz="1300" b="1">
                <a:solidFill>
                  <a:srgbClr val="00F0FF"/>
                </a:solidFill>
                <a:latin typeface="Segoe UI"/>
              </a:defRPr>
            </a:pPr>
            <a:r>
              <a:t>Scan to Open Gateway</a:t>
            </a:r>
          </a:p>
          <a:p>
            <a:pPr algn="ctr">
              <a:defRPr sz="1000">
                <a:solidFill>
                  <a:srgbClr val="94A3B8"/>
                </a:solidFill>
                <a:latin typeface="Consolas"/>
              </a:defRPr>
            </a:pPr>
            <a:r>
              <a:t>or visit tinyurl.com/baysec-portal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DEBRIEF &amp; WALKTHROUGH</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0x01 Solution: Client-Side Exposure</a:t>
            </a:r>
          </a:p>
        </p:txBody>
      </p:sp>
      <p:sp>
        <p:nvSpPr>
          <p:cNvPr id="5" name="Rounded Rectangle 4"/>
          <p:cNvSpPr/>
          <p:nvPr/>
        </p:nvSpPr>
        <p:spPr>
          <a:xfrm>
            <a:off x="731520" y="1572768"/>
            <a:ext cx="5120640" cy="393192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defRPr sz="1500" b="1">
                <a:solidFill>
                  <a:srgbClr val="00F0FF"/>
                </a:solidFill>
                <a:latin typeface="Consolas"/>
              </a:defRPr>
            </a:pPr>
            <a:r>
              <a:t>STEP 1: INSPECT THE DOM</a:t>
            </a:r>
          </a:p>
          <a:p>
            <a:pPr>
              <a:spcBef>
                <a:spcPts val="1000"/>
              </a:spcBef>
              <a:defRPr sz="1350">
                <a:solidFill>
                  <a:srgbClr val="F8FAFC"/>
                </a:solidFill>
                <a:latin typeface="Segoe UI"/>
              </a:defRPr>
            </a:pPr>
            <a:r>
              <a:t>• Press F12 or Right-Click ➔ Inspect Element</a:t>
            </a:r>
          </a:p>
          <a:p>
            <a:pPr>
              <a:spcBef>
                <a:spcPts val="800"/>
              </a:spcBef>
              <a:spcAft>
                <a:spcPts val="1000"/>
              </a:spcAft>
              <a:defRPr sz="1350">
                <a:solidFill>
                  <a:srgbClr val="F8FAFC"/>
                </a:solidFill>
                <a:latin typeface="Segoe UI"/>
              </a:defRPr>
            </a:pPr>
            <a:r>
              <a:t>• Examine HTML comments inside &lt;body&gt;:</a:t>
            </a:r>
          </a:p>
          <a:p>
            <a:pPr>
              <a:spcAft>
                <a:spcPts val="1600"/>
              </a:spcAft>
              <a:defRPr sz="1150">
                <a:solidFill>
                  <a:srgbClr val="4ADE80"/>
                </a:solidFill>
                <a:latin typeface="Consolas"/>
              </a:defRPr>
            </a:pPr>
            <a:r>
              <a:t>&lt;!-- The flag is here:</a:t>
            </a:r>
            <a:br/>
            <a:r>
              <a:t>c2ZidXt3M2xjMG0zX3QwX2I0eXMzY18yMDI2fQ== --&gt;</a:t>
            </a:r>
          </a:p>
          <a:p>
            <a:pPr>
              <a:defRPr sz="1200" i="1">
                <a:solidFill>
                  <a:srgbClr val="CBD5E1"/>
                </a:solidFill>
                <a:latin typeface="Segoe UI"/>
              </a:defRPr>
            </a:pPr>
            <a:r>
              <a:t>Notice the trailing '==' padding — the classic tell of Base64 encoding!</a:t>
            </a:r>
          </a:p>
        </p:txBody>
      </p:sp>
      <p:sp>
        <p:nvSpPr>
          <p:cNvPr id="6" name="Rounded Rectangle 5"/>
          <p:cNvSpPr/>
          <p:nvPr/>
        </p:nvSpPr>
        <p:spPr>
          <a:xfrm>
            <a:off x="6339535" y="1572768"/>
            <a:ext cx="5120640" cy="3931920"/>
          </a:xfrm>
          <a:prstGeom prst="roundRect">
            <a:avLst/>
          </a:prstGeom>
          <a:solidFill>
            <a:srgbClr val="111827"/>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defRPr sz="1500" b="1">
                <a:solidFill>
                  <a:srgbClr val="4ADE80"/>
                </a:solidFill>
                <a:latin typeface="Consolas"/>
              </a:defRPr>
            </a:pPr>
            <a:r>
              <a:t>STEP 2: DECODE BASE64</a:t>
            </a:r>
          </a:p>
          <a:p>
            <a:pPr>
              <a:spcBef>
                <a:spcPts val="1000"/>
              </a:spcBef>
              <a:defRPr sz="1200" b="1">
                <a:solidFill>
                  <a:srgbClr val="F59E0B"/>
                </a:solidFill>
                <a:latin typeface="Consolas"/>
              </a:defRPr>
            </a:pPr>
            <a:r>
              <a:t>METHOD A: BASH CLI</a:t>
            </a:r>
          </a:p>
          <a:p>
            <a:pPr>
              <a:spcAft>
                <a:spcPts val="1400"/>
              </a:spcAft>
              <a:defRPr sz="1050">
                <a:solidFill>
                  <a:srgbClr val="F8FAFC"/>
                </a:solidFill>
                <a:latin typeface="Consolas"/>
              </a:defRPr>
            </a:pPr>
            <a:r>
              <a:t>$ echo "c2ZidXt3M2xjMG0zX3QwX2I0eXMzY18yMDI2fQ==" | base64 -d</a:t>
            </a:r>
          </a:p>
          <a:p>
            <a:pPr>
              <a:defRPr sz="1200" b="1">
                <a:solidFill>
                  <a:srgbClr val="F59E0B"/>
                </a:solidFill>
                <a:latin typeface="Consolas"/>
              </a:defRPr>
            </a:pPr>
            <a:r>
              <a:t>METHOD B: CYBERCHEF</a:t>
            </a:r>
          </a:p>
          <a:p>
            <a:pPr>
              <a:spcAft>
                <a:spcPts val="1600"/>
              </a:spcAft>
              <a:defRPr sz="1300">
                <a:solidFill>
                  <a:srgbClr val="F8FAFC"/>
                </a:solidFill>
                <a:latin typeface="Segoe UI"/>
              </a:defRPr>
            </a:pPr>
            <a:r>
              <a:t>Paste into CyberChef ➔ Add recipe 'From Base64'</a:t>
            </a:r>
          </a:p>
          <a:p>
            <a:pPr>
              <a:defRPr sz="1200">
                <a:solidFill>
                  <a:srgbClr val="94A3B8"/>
                </a:solidFill>
                <a:latin typeface="Consolas"/>
              </a:defRPr>
            </a:pPr>
            <a:r>
              <a:t>FLAG RECOVERED:</a:t>
            </a:r>
          </a:p>
          <a:p>
            <a:pPr>
              <a:defRPr sz="1500" b="1">
                <a:solidFill>
                  <a:srgbClr val="4ADE80"/>
                </a:solidFill>
                <a:latin typeface="Consolas"/>
              </a:defRPr>
            </a:pPr>
            <a:r>
              <a:t>sfbu{w3lc0m3_t0_b4ys3c_2026}</a:t>
            </a:r>
          </a:p>
        </p:txBody>
      </p:sp>
      <p:sp>
        <p:nvSpPr>
          <p:cNvPr id="7" name="Rounded Rectangle 6"/>
          <p:cNvSpPr/>
          <p:nvPr/>
        </p:nvSpPr>
        <p:spPr>
          <a:xfrm>
            <a:off x="731520" y="5715000"/>
            <a:ext cx="10728655" cy="59436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8FAFC"/>
                </a:solidFill>
                <a:latin typeface="Segoe UI"/>
              </a:defRPr>
            </a:pPr>
            <a:r>
              <a:t>⚠️ KEY TAKEAWAY: Never store secrets, comments, or sensitive auth logic inside client-rendered markup.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28600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LOOKING AHEAD</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Get Connected &amp; Next Steps</a:t>
            </a:r>
          </a:p>
        </p:txBody>
      </p:sp>
      <p:sp>
        <p:nvSpPr>
          <p:cNvPr id="5" name="Rounded Rectangle 4"/>
          <p:cNvSpPr/>
          <p:nvPr/>
        </p:nvSpPr>
        <p:spPr>
          <a:xfrm>
            <a:off x="731520" y="1572768"/>
            <a:ext cx="6583680" cy="466344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defRPr sz="1500" b="1">
                <a:solidFill>
                  <a:srgbClr val="00F0FF"/>
                </a:solidFill>
                <a:latin typeface="Consolas"/>
              </a:defRPr>
            </a:pPr>
            <a:r>
              <a:t>🚀 NEXT WEEK: LAB 01</a:t>
            </a:r>
          </a:p>
          <a:p>
            <a:pPr>
              <a:spcBef>
                <a:spcPts val="400"/>
              </a:spcBef>
              <a:spcAft>
                <a:spcPts val="1400"/>
              </a:spcAft>
              <a:defRPr sz="1700" b="1">
                <a:solidFill>
                  <a:srgbClr val="F8FAFC"/>
                </a:solidFill>
                <a:latin typeface="Segoe UI"/>
              </a:defRPr>
            </a:pPr>
            <a:r>
              <a:t>Linux CLI Essentials &amp; Wireshark Traffic Analysis</a:t>
            </a:r>
          </a:p>
          <a:p>
            <a:pPr>
              <a:defRPr sz="1300" b="1">
                <a:solidFill>
                  <a:srgbClr val="38BDF8"/>
                </a:solidFill>
                <a:latin typeface="Consolas"/>
              </a:defRPr>
            </a:pPr>
            <a:r>
              <a:t>📅 MEETING SCHEDULE</a:t>
            </a:r>
          </a:p>
          <a:p>
            <a:pPr>
              <a:spcAft>
                <a:spcPts val="1400"/>
              </a:spcAft>
              <a:defRPr sz="1350">
                <a:solidFill>
                  <a:srgbClr val="CBD5E1"/>
                </a:solidFill>
                <a:latin typeface="Segoe UI"/>
              </a:defRPr>
            </a:pPr>
            <a:r>
              <a:t>Weekly 60-Minute Sessions (Final weekday/time confirmed via WhatsApp &amp; Email)</a:t>
            </a:r>
          </a:p>
          <a:p>
            <a:pPr>
              <a:defRPr sz="1300" b="1">
                <a:solidFill>
                  <a:srgbClr val="F59E0B"/>
                </a:solidFill>
                <a:latin typeface="Consolas"/>
              </a:defRPr>
            </a:pPr>
            <a:r>
              <a:t>⚡ ACTION ITEM</a:t>
            </a:r>
          </a:p>
          <a:p>
            <a:pPr>
              <a:spcAft>
                <a:spcPts val="1400"/>
              </a:spcAft>
              <a:defRPr sz="1350">
                <a:solidFill>
                  <a:srgbClr val="F8FAFC"/>
                </a:solidFill>
                <a:latin typeface="Segoe UI"/>
              </a:defRPr>
            </a:pPr>
            <a:r>
              <a:t>Make sure you are in the WhatsApp Community for room announcements!</a:t>
            </a:r>
          </a:p>
          <a:p>
            <a:pPr>
              <a:defRPr sz="1300" b="1">
                <a:solidFill>
                  <a:srgbClr val="4ADE80"/>
                </a:solidFill>
                <a:latin typeface="Consolas"/>
              </a:defRPr>
            </a:pPr>
            <a:r>
              <a:t>📫 CONTACTS</a:t>
            </a:r>
          </a:p>
          <a:p>
            <a:pPr>
              <a:defRPr sz="1250">
                <a:solidFill>
                  <a:srgbClr val="F8FAFC"/>
                </a:solidFill>
                <a:latin typeface="Segoe UI"/>
              </a:defRPr>
            </a:pPr>
            <a:r>
              <a:t>• Khoi Duong (President) — mduong@student.sfbu.edu</a:t>
            </a:r>
          </a:p>
          <a:p>
            <a:pPr>
              <a:defRPr sz="1250">
                <a:solidFill>
                  <a:srgbClr val="F8FAFC"/>
                </a:solidFill>
                <a:latin typeface="Segoe UI"/>
              </a:defRPr>
            </a:pPr>
            <a:r>
              <a:t>• Joed Prudente (Faculty Advisor) — joed.prudente@sfbu.edu</a:t>
            </a:r>
          </a:p>
        </p:txBody>
      </p:sp>
      <p:sp>
        <p:nvSpPr>
          <p:cNvPr id="6" name="Rounded Rectangle 5"/>
          <p:cNvSpPr/>
          <p:nvPr/>
        </p:nvSpPr>
        <p:spPr>
          <a:xfrm>
            <a:off x="7589520" y="1572768"/>
            <a:ext cx="3870655" cy="4663440"/>
          </a:xfrm>
          <a:prstGeom prst="roundRect">
            <a:avLst/>
          </a:prstGeom>
          <a:solidFill>
            <a:srgbClr val="111827"/>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tIns="320040"/>
          <a:lstStyle/>
          <a:p>
            <a:pPr algn="ctr">
              <a:defRPr sz="1400" b="1">
                <a:solidFill>
                  <a:srgbClr val="4ADE80"/>
                </a:solidFill>
                <a:latin typeface="Consolas"/>
              </a:defRPr>
            </a:pPr>
            <a:r>
              <a:t>JOIN THE COMMUNITY</a:t>
            </a:r>
          </a:p>
        </p:txBody>
      </p:sp>
      <p:pic>
        <p:nvPicPr>
          <p:cNvPr id="7" name="Picture 6" descr="qr.png"/>
          <p:cNvPicPr>
            <a:picLocks noChangeAspect="1"/>
          </p:cNvPicPr>
          <p:nvPr/>
        </p:nvPicPr>
        <p:blipFill>
          <a:blip r:embed="rId2"/>
          <a:stretch>
            <a:fillRect/>
          </a:stretch>
        </p:blipFill>
        <p:spPr>
          <a:xfrm>
            <a:off x="8472830" y="2304288"/>
            <a:ext cx="2103120" cy="2103120"/>
          </a:xfrm>
          <a:prstGeom prst="rect">
            <a:avLst/>
          </a:prstGeom>
        </p:spPr>
      </p:pic>
      <p:sp>
        <p:nvSpPr>
          <p:cNvPr id="8" name="TextBox 7"/>
          <p:cNvSpPr txBox="1"/>
          <p:nvPr/>
        </p:nvSpPr>
        <p:spPr>
          <a:xfrm>
            <a:off x="7680960" y="4590288"/>
            <a:ext cx="3687775" cy="1188720"/>
          </a:xfrm>
          <a:prstGeom prst="rect">
            <a:avLst/>
          </a:prstGeom>
          <a:noFill/>
        </p:spPr>
        <p:txBody>
          <a:bodyPr wrap="square">
            <a:spAutoFit/>
          </a:bodyPr>
          <a:lstStyle/>
          <a:p>
            <a:pPr algn="ctr">
              <a:defRPr sz="2800" b="1">
                <a:solidFill>
                  <a:srgbClr val="F8FAFC"/>
                </a:solidFill>
                <a:latin typeface="Segoe UI"/>
              </a:defRPr>
            </a:pPr>
            <a:r>
              <a:t>QUESTIONS?</a:t>
            </a:r>
          </a:p>
          <a:p>
            <a:pPr algn="ctr">
              <a:defRPr sz="1200">
                <a:solidFill>
                  <a:srgbClr val="CBD5E1"/>
                </a:solidFill>
                <a:latin typeface="Segoe UI"/>
              </a:defRPr>
            </a:pPr>
            <a:r>
              <a:t>The floor is now open for Q&amp;A, setup help, or just chatting 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